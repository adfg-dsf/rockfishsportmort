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2" r:id="rId4"/>
    <p:sldId id="264" r:id="rId5"/>
    <p:sldId id="257" r:id="rId6"/>
    <p:sldId id="261" r:id="rId7"/>
    <p:sldId id="263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7D52"/>
    <a:srgbClr val="EEF8F1"/>
    <a:srgbClr val="2279B1"/>
    <a:srgbClr val="1E603F"/>
    <a:srgbClr val="EBF6FD"/>
    <a:srgbClr val="FDEADA"/>
    <a:srgbClr val="FDE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17.sv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rrow: Bent 24">
            <a:extLst>
              <a:ext uri="{FF2B5EF4-FFF2-40B4-BE49-F238E27FC236}">
                <a16:creationId xmlns:a16="http://schemas.microsoft.com/office/drawing/2014/main" id="{F98CB9CD-CE0F-3049-9766-B3632B4CD876}"/>
              </a:ext>
            </a:extLst>
          </p:cNvPr>
          <p:cNvSpPr/>
          <p:nvPr/>
        </p:nvSpPr>
        <p:spPr>
          <a:xfrm flipH="1" flipV="1">
            <a:off x="2057400" y="2468880"/>
            <a:ext cx="6991350" cy="1271016"/>
          </a:xfrm>
          <a:prstGeom prst="bentArrow">
            <a:avLst>
              <a:gd name="adj1" fmla="val 15258"/>
              <a:gd name="adj2" fmla="val 7764"/>
              <a:gd name="adj3" fmla="val 25000"/>
              <a:gd name="adj4" fmla="val 875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500" b="1" i="0">
                <a:solidFill>
                  <a:srgbClr val="123F69"/>
                </a:solidFill>
                <a:latin typeface="Aptos"/>
              </a:rPr>
              <a:t>Figure 1. Estimating Harvests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50" b="0" i="1">
                <a:solidFill>
                  <a:srgbClr val="232D37"/>
                </a:solidFill>
                <a:latin typeface="Aptos"/>
              </a:rPr>
              <a:t>How guided and unguided harvest estimates are informed by complementary 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3520440" cy="150876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logbooks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Near-census of guided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total catch by trip / area / year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guided vs. unguided context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partial species/complex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960120"/>
            <a:ext cx="3840480" cy="1508760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Port sampling &amp;</a:t>
            </a:r>
            <a:endParaRPr lang="en-US" sz="1800" b="1" dirty="0">
              <a:solidFill>
                <a:srgbClr val="123F69"/>
              </a:solidFill>
              <a:latin typeface="Aptos Display"/>
            </a:endParaRPr>
          </a:p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 interviews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Species composition and biological data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species apportionment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</a:t>
            </a:r>
            <a:r>
              <a:rPr strike="sngStrike" dirty="0"/>
              <a:t>length and weight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trike="sngStrike" dirty="0"/>
              <a:t>• angler retention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160520"/>
            <a:ext cx="5577840" cy="169164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>
                <a:solidFill>
                  <a:srgbClr val="123F69"/>
                </a:solidFill>
                <a:latin typeface="Aptos Display"/>
              </a:rPr>
              <a:t>Guided harvest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1. Guided logbook harvest provides the primary harvest anchor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2. Port sampling + logbook data apportion harvest among species / complexes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3. Result: guided harvest by area, year, and species / complex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160520"/>
            <a:ext cx="5669280" cy="169164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harvest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Corrected total harvest is informed by SWHS and logbook relationships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Guided : unguided proportions are modeled across areas / years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3. Port sampling + logbook data inform species apportionment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5925312"/>
            <a:ext cx="4526280" cy="475488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12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150" b="1">
                <a:solidFill>
                  <a:srgbClr val="0D3561"/>
                </a:solidFill>
                <a:latin typeface="Aptos Display"/>
              </a:rPr>
              <a:t>Integrated hierarchical Bayesian model</a:t>
            </a:r>
          </a:p>
          <a:p>
            <a:pPr>
              <a:spcAft>
                <a:spcPts val="200"/>
              </a:spcAft>
              <a:defRPr sz="1050">
                <a:solidFill>
                  <a:srgbClr val="232D37"/>
                </a:solidFill>
                <a:latin typeface="Aptos"/>
              </a:defRPr>
            </a:pPr>
            <a:r>
              <a:rPr sz="850">
                <a:solidFill>
                  <a:srgbClr val="0D3561"/>
                </a:solidFill>
              </a:rPr>
              <a:t>Combines information and quantifies uncertainty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1124712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0" i="0">
                <a:solidFill>
                  <a:srgbClr val="232D37"/>
                </a:solidFill>
                <a:latin typeface="Aptos"/>
              </a:rPr>
              <a:t>Key distinction: guided harvest is anchored by the logbook census; unguided harvest requires information from SWHS, logbooks, and the integrated model.</a:t>
            </a:r>
          </a:p>
        </p:txBody>
      </p:sp>
      <p:pic>
        <p:nvPicPr>
          <p:cNvPr id="17" name="Picture 16" descr="b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640080" cy="433832"/>
          </a:xfrm>
          <a:prstGeom prst="rect">
            <a:avLst/>
          </a:prstGeom>
        </p:spPr>
      </p:pic>
      <p:pic>
        <p:nvPicPr>
          <p:cNvPr id="18" name="Picture 17" descr="log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  <p:pic>
        <p:nvPicPr>
          <p:cNvPr id="19" name="Picture 18" descr="int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675" y="1078992"/>
            <a:ext cx="640080" cy="497840"/>
          </a:xfrm>
          <a:prstGeom prst="rect">
            <a:avLst/>
          </a:prstGeom>
        </p:spPr>
      </p:pic>
      <p:sp>
        <p:nvSpPr>
          <p:cNvPr id="26" name="Arrow: Bent 25">
            <a:extLst>
              <a:ext uri="{FF2B5EF4-FFF2-40B4-BE49-F238E27FC236}">
                <a16:creationId xmlns:a16="http://schemas.microsoft.com/office/drawing/2014/main" id="{8C663C05-9763-8A0B-6DB2-07F8FBCCA1B8}"/>
              </a:ext>
            </a:extLst>
          </p:cNvPr>
          <p:cNvSpPr/>
          <p:nvPr/>
        </p:nvSpPr>
        <p:spPr>
          <a:xfrm rot="16200000" flipH="1">
            <a:off x="2473439" y="2532877"/>
            <a:ext cx="813819" cy="2834663"/>
          </a:xfrm>
          <a:prstGeom prst="bentArrow">
            <a:avLst>
              <a:gd name="adj1" fmla="val 23991"/>
              <a:gd name="adj2" fmla="val 25000"/>
              <a:gd name="adj3" fmla="val 25000"/>
              <a:gd name="adj4" fmla="val 4375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50043" y="2697480"/>
            <a:ext cx="3476612" cy="1115568"/>
          </a:xfrm>
          <a:prstGeom prst="roundRect">
            <a:avLst/>
          </a:prstGeom>
          <a:solidFill>
            <a:srgbClr val="FCF6EB"/>
          </a:solidFill>
          <a:ln w="19050">
            <a:solidFill>
              <a:srgbClr val="BE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650" b="1">
                <a:solidFill>
                  <a:srgbClr val="123F69"/>
                </a:solidFill>
                <a:latin typeface="Aptos Display"/>
              </a:rPr>
              <a:t>Estimate and correct SWHS bias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Compare survey estimates with the guided logbook census → quantify systematic differences → estimate corrected total harvest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D99CF988-A974-DCC0-02EC-165C27C95FB2}"/>
              </a:ext>
            </a:extLst>
          </p:cNvPr>
          <p:cNvSpPr/>
          <p:nvPr/>
        </p:nvSpPr>
        <p:spPr>
          <a:xfrm>
            <a:off x="1354443" y="2468880"/>
            <a:ext cx="405766" cy="1888238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U-Turn 27">
            <a:extLst>
              <a:ext uri="{FF2B5EF4-FFF2-40B4-BE49-F238E27FC236}">
                <a16:creationId xmlns:a16="http://schemas.microsoft.com/office/drawing/2014/main" id="{0E8E4C8C-E584-71A1-BABE-1DDADA490A86}"/>
              </a:ext>
            </a:extLst>
          </p:cNvPr>
          <p:cNvSpPr/>
          <p:nvPr/>
        </p:nvSpPr>
        <p:spPr>
          <a:xfrm rot="16200000" flipH="1">
            <a:off x="3484240" y="2266731"/>
            <a:ext cx="1055369" cy="810005"/>
          </a:xfrm>
          <a:prstGeom prst="uturnArrow">
            <a:avLst>
              <a:gd name="adj1" fmla="val 21472"/>
              <a:gd name="adj2" fmla="val 21472"/>
              <a:gd name="adj3" fmla="val 25000"/>
              <a:gd name="adj4" fmla="val 43750"/>
              <a:gd name="adj5" fmla="val 10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60520" y="960120"/>
            <a:ext cx="3520440" cy="150876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Statewide Harvest Survey (SWHS)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Long time series of total sport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guided and unguided user groups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area / year estimates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survey estimates subject to bias</a:t>
            </a: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EC78BC77-D0C3-7230-6CF1-E5F8FB2D31BB}"/>
              </a:ext>
            </a:extLst>
          </p:cNvPr>
          <p:cNvSpPr/>
          <p:nvPr/>
        </p:nvSpPr>
        <p:spPr>
          <a:xfrm flipV="1">
            <a:off x="1904999" y="2468879"/>
            <a:ext cx="2392681" cy="617221"/>
          </a:xfrm>
          <a:prstGeom prst="bentArrow">
            <a:avLst>
              <a:gd name="adj1" fmla="val 32716"/>
              <a:gd name="adj2" fmla="val 25000"/>
              <a:gd name="adj3" fmla="val 25000"/>
              <a:gd name="adj4" fmla="val 8750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7E8A100D-27C7-E1C6-6571-E096F9E0C502}"/>
              </a:ext>
            </a:extLst>
          </p:cNvPr>
          <p:cNvSpPr/>
          <p:nvPr/>
        </p:nvSpPr>
        <p:spPr>
          <a:xfrm>
            <a:off x="9400220" y="2468879"/>
            <a:ext cx="405766" cy="1888238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A9E1E23F-D5CB-56B0-A015-F0B95672CF46}"/>
              </a:ext>
            </a:extLst>
          </p:cNvPr>
          <p:cNvSpPr/>
          <p:nvPr/>
        </p:nvSpPr>
        <p:spPr>
          <a:xfrm rot="5400000">
            <a:off x="7982612" y="2657386"/>
            <a:ext cx="1445705" cy="1953761"/>
          </a:xfrm>
          <a:prstGeom prst="bentArrow">
            <a:avLst>
              <a:gd name="adj1" fmla="val 12458"/>
              <a:gd name="adj2" fmla="val 13398"/>
              <a:gd name="adj3" fmla="val 18729"/>
              <a:gd name="adj4" fmla="val 43750"/>
            </a:avLst>
          </a:prstGeom>
          <a:solidFill>
            <a:srgbClr val="FDEFE3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3" name="Picture 32" descr="logbook.png">
            <a:extLst>
              <a:ext uri="{FF2B5EF4-FFF2-40B4-BE49-F238E27FC236}">
                <a16:creationId xmlns:a16="http://schemas.microsoft.com/office/drawing/2014/main" id="{017EC1C9-FAB4-035B-1102-65E848F77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F655D-BF50-E390-0069-3C97282CF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rrow: Bent 24">
            <a:extLst>
              <a:ext uri="{FF2B5EF4-FFF2-40B4-BE49-F238E27FC236}">
                <a16:creationId xmlns:a16="http://schemas.microsoft.com/office/drawing/2014/main" id="{4C679990-137C-98C9-5443-AB42791C306D}"/>
              </a:ext>
            </a:extLst>
          </p:cNvPr>
          <p:cNvSpPr/>
          <p:nvPr/>
        </p:nvSpPr>
        <p:spPr>
          <a:xfrm flipH="1" flipV="1">
            <a:off x="2057400" y="2468880"/>
            <a:ext cx="6991350" cy="1271016"/>
          </a:xfrm>
          <a:prstGeom prst="bentArrow">
            <a:avLst>
              <a:gd name="adj1" fmla="val 15258"/>
              <a:gd name="adj2" fmla="val 7764"/>
              <a:gd name="adj3" fmla="val 25000"/>
              <a:gd name="adj4" fmla="val 875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DC8702-B836-3688-DFB6-E013B994650E}"/>
              </a:ext>
            </a:extLst>
          </p:cNvPr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500" b="1" i="0">
                <a:solidFill>
                  <a:srgbClr val="123F69"/>
                </a:solidFill>
                <a:latin typeface="Aptos"/>
              </a:rPr>
              <a:t>Figure 1. Estimating Harvests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6BA232-6472-E28D-547E-A124B21FDD78}"/>
              </a:ext>
            </a:extLst>
          </p:cNvPr>
          <p:cNvSpPr txBox="1"/>
          <p:nvPr/>
        </p:nvSpPr>
        <p:spPr>
          <a:xfrm>
            <a:off x="640080" y="594360"/>
            <a:ext cx="108813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50" b="0" i="1">
                <a:solidFill>
                  <a:srgbClr val="232D37"/>
                </a:solidFill>
                <a:latin typeface="Aptos"/>
              </a:rPr>
              <a:t>How guided and unguided harvest estimates are informed by complementary data sources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0575BDA-33A7-3756-81AA-2D7DBB98E265}"/>
              </a:ext>
            </a:extLst>
          </p:cNvPr>
          <p:cNvSpPr/>
          <p:nvPr/>
        </p:nvSpPr>
        <p:spPr>
          <a:xfrm>
            <a:off x="320040" y="960120"/>
            <a:ext cx="3520440" cy="150876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logbooks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Near-census of guided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total catch by trip / area / year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guided vs. unguided context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partial species/complex information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3A222E-9B0E-CACB-7970-6C7C0C501B74}"/>
              </a:ext>
            </a:extLst>
          </p:cNvPr>
          <p:cNvSpPr/>
          <p:nvPr/>
        </p:nvSpPr>
        <p:spPr>
          <a:xfrm>
            <a:off x="8001000" y="960120"/>
            <a:ext cx="3840480" cy="1508760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Port sampling &amp; interviews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Species composition and biological data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species apportionment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</a:t>
            </a:r>
            <a:r>
              <a:rPr strike="sngStrike" dirty="0"/>
              <a:t>length and weight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trike="sngStrike" dirty="0"/>
              <a:t>• angler retention behavior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8BC3783-0025-5BEC-AF0A-37DD7294BF2D}"/>
              </a:ext>
            </a:extLst>
          </p:cNvPr>
          <p:cNvSpPr/>
          <p:nvPr/>
        </p:nvSpPr>
        <p:spPr>
          <a:xfrm>
            <a:off x="320040" y="4160520"/>
            <a:ext cx="5577840" cy="169164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>
                <a:solidFill>
                  <a:srgbClr val="123F69"/>
                </a:solidFill>
                <a:latin typeface="Aptos Display"/>
              </a:rPr>
              <a:t>Guided harvest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1. Guided logbook harvest provides the primary harvest anchor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2. Port sampling + logbook data apportion harvest among species / complexes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3. Result: guided harvest by area, year, and species / complex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E4113E0-2B78-3CC9-B4D8-0D09EF00BF01}"/>
              </a:ext>
            </a:extLst>
          </p:cNvPr>
          <p:cNvSpPr/>
          <p:nvPr/>
        </p:nvSpPr>
        <p:spPr>
          <a:xfrm>
            <a:off x="6172200" y="4160520"/>
            <a:ext cx="5669280" cy="169164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harvest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Corrected total harvest is informed by SWHS and logbook relationships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Guided : unguided proportions are modeled across areas / years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3. Port sampling + logbook data inform species apportionment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B79B2E0-A1E3-60F2-0AA9-7C7914B4AFE4}"/>
              </a:ext>
            </a:extLst>
          </p:cNvPr>
          <p:cNvSpPr/>
          <p:nvPr/>
        </p:nvSpPr>
        <p:spPr>
          <a:xfrm>
            <a:off x="3794760" y="5925312"/>
            <a:ext cx="4526280" cy="475488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12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150" b="1">
                <a:solidFill>
                  <a:srgbClr val="0D3561"/>
                </a:solidFill>
                <a:latin typeface="Aptos Display"/>
              </a:rPr>
              <a:t>Integrated hierarchical Bayesian model</a:t>
            </a:r>
          </a:p>
          <a:p>
            <a:pPr>
              <a:spcAft>
                <a:spcPts val="200"/>
              </a:spcAft>
              <a:defRPr sz="1050">
                <a:solidFill>
                  <a:srgbClr val="232D37"/>
                </a:solidFill>
                <a:latin typeface="Aptos"/>
              </a:defRPr>
            </a:pPr>
            <a:r>
              <a:rPr sz="850">
                <a:solidFill>
                  <a:srgbClr val="0D3561"/>
                </a:solidFill>
              </a:rPr>
              <a:t>Combines information and quantifies uncertainty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F48F7-C534-3DC0-214B-5B52A3A2C12A}"/>
              </a:ext>
            </a:extLst>
          </p:cNvPr>
          <p:cNvSpPr txBox="1"/>
          <p:nvPr/>
        </p:nvSpPr>
        <p:spPr>
          <a:xfrm>
            <a:off x="457200" y="6547104"/>
            <a:ext cx="1124712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0" i="0">
                <a:solidFill>
                  <a:srgbClr val="232D37"/>
                </a:solidFill>
                <a:latin typeface="Aptos"/>
              </a:rPr>
              <a:t>Key distinction: guided harvest is anchored by the logbook census; unguided harvest requires information from SWHS, logbooks, and the integrated model.</a:t>
            </a:r>
          </a:p>
        </p:txBody>
      </p:sp>
      <p:pic>
        <p:nvPicPr>
          <p:cNvPr id="17" name="Picture 16" descr="boat.png">
            <a:extLst>
              <a:ext uri="{FF2B5EF4-FFF2-40B4-BE49-F238E27FC236}">
                <a16:creationId xmlns:a16="http://schemas.microsoft.com/office/drawing/2014/main" id="{2AA1820B-4958-D5B3-B100-6B7FE6181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640080" cy="433832"/>
          </a:xfrm>
          <a:prstGeom prst="rect">
            <a:avLst/>
          </a:prstGeom>
        </p:spPr>
      </p:pic>
      <p:pic>
        <p:nvPicPr>
          <p:cNvPr id="18" name="Picture 17" descr="logbook.png">
            <a:extLst>
              <a:ext uri="{FF2B5EF4-FFF2-40B4-BE49-F238E27FC236}">
                <a16:creationId xmlns:a16="http://schemas.microsoft.com/office/drawing/2014/main" id="{17B6049E-CA50-E3A4-EEAF-00E5D6C1B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  <p:pic>
        <p:nvPicPr>
          <p:cNvPr id="19" name="Picture 18" descr="interview.png">
            <a:extLst>
              <a:ext uri="{FF2B5EF4-FFF2-40B4-BE49-F238E27FC236}">
                <a16:creationId xmlns:a16="http://schemas.microsoft.com/office/drawing/2014/main" id="{AB4E1D93-F78D-1C3F-730F-59D655D596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675" y="1078992"/>
            <a:ext cx="640080" cy="497840"/>
          </a:xfrm>
          <a:prstGeom prst="rect">
            <a:avLst/>
          </a:prstGeom>
        </p:spPr>
      </p:pic>
      <p:sp>
        <p:nvSpPr>
          <p:cNvPr id="26" name="Arrow: Bent 25">
            <a:extLst>
              <a:ext uri="{FF2B5EF4-FFF2-40B4-BE49-F238E27FC236}">
                <a16:creationId xmlns:a16="http://schemas.microsoft.com/office/drawing/2014/main" id="{F6CFF4AA-36F0-B217-7DD8-77518714D74F}"/>
              </a:ext>
            </a:extLst>
          </p:cNvPr>
          <p:cNvSpPr/>
          <p:nvPr/>
        </p:nvSpPr>
        <p:spPr>
          <a:xfrm rot="16200000" flipH="1">
            <a:off x="2473439" y="2532877"/>
            <a:ext cx="813819" cy="2834663"/>
          </a:xfrm>
          <a:prstGeom prst="bentArrow">
            <a:avLst>
              <a:gd name="adj1" fmla="val 23991"/>
              <a:gd name="adj2" fmla="val 25000"/>
              <a:gd name="adj3" fmla="val 25000"/>
              <a:gd name="adj4" fmla="val 4375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89B242-E22E-2444-13E3-C3C3503892BF}"/>
              </a:ext>
            </a:extLst>
          </p:cNvPr>
          <p:cNvSpPr/>
          <p:nvPr/>
        </p:nvSpPr>
        <p:spPr>
          <a:xfrm>
            <a:off x="4250043" y="2697480"/>
            <a:ext cx="3476612" cy="1115568"/>
          </a:xfrm>
          <a:prstGeom prst="roundRect">
            <a:avLst/>
          </a:prstGeom>
          <a:solidFill>
            <a:srgbClr val="FCF6EB"/>
          </a:solidFill>
          <a:ln w="19050">
            <a:solidFill>
              <a:srgbClr val="BE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650" b="1">
                <a:solidFill>
                  <a:srgbClr val="123F69"/>
                </a:solidFill>
                <a:latin typeface="Aptos Display"/>
              </a:rPr>
              <a:t>Estimate and correct SWHS bias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Compare survey estimates with the guided logbook census → quantify systematic differences → estimate corrected total harvest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57286DC-3D08-7A69-531D-DB40D7D94141}"/>
              </a:ext>
            </a:extLst>
          </p:cNvPr>
          <p:cNvSpPr/>
          <p:nvPr/>
        </p:nvSpPr>
        <p:spPr>
          <a:xfrm>
            <a:off x="1354443" y="2468880"/>
            <a:ext cx="405766" cy="1888238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U-Turn 27">
            <a:extLst>
              <a:ext uri="{FF2B5EF4-FFF2-40B4-BE49-F238E27FC236}">
                <a16:creationId xmlns:a16="http://schemas.microsoft.com/office/drawing/2014/main" id="{E9FACBE3-0A7C-0B1C-F959-E638808D4296}"/>
              </a:ext>
            </a:extLst>
          </p:cNvPr>
          <p:cNvSpPr/>
          <p:nvPr/>
        </p:nvSpPr>
        <p:spPr>
          <a:xfrm rot="16200000" flipH="1">
            <a:off x="3484240" y="2266731"/>
            <a:ext cx="1055369" cy="810005"/>
          </a:xfrm>
          <a:prstGeom prst="uturnArrow">
            <a:avLst>
              <a:gd name="adj1" fmla="val 21472"/>
              <a:gd name="adj2" fmla="val 21472"/>
              <a:gd name="adj3" fmla="val 25000"/>
              <a:gd name="adj4" fmla="val 43750"/>
              <a:gd name="adj5" fmla="val 100000"/>
            </a:avLst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59000">
                <a:schemeClr val="accent3">
                  <a:lumMod val="20000"/>
                  <a:lumOff val="80000"/>
                </a:schemeClr>
              </a:gs>
              <a:gs pos="80000">
                <a:schemeClr val="accent6">
                  <a:lumMod val="33000"/>
                  <a:lumOff val="67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115AC5-9027-BF19-21F3-DA7344DEB1E9}"/>
              </a:ext>
            </a:extLst>
          </p:cNvPr>
          <p:cNvSpPr/>
          <p:nvPr/>
        </p:nvSpPr>
        <p:spPr>
          <a:xfrm>
            <a:off x="4160520" y="960120"/>
            <a:ext cx="3520440" cy="150876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Statewide Harvest Survey (SWHS)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Long time series of total sport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guided and unguided user groups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area / year estimates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survey estimates subject to bias</a:t>
            </a: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2A557E8D-A4FE-5313-24F9-A5DB93D82444}"/>
              </a:ext>
            </a:extLst>
          </p:cNvPr>
          <p:cNvSpPr/>
          <p:nvPr/>
        </p:nvSpPr>
        <p:spPr>
          <a:xfrm flipV="1">
            <a:off x="1904999" y="2468879"/>
            <a:ext cx="2392681" cy="617221"/>
          </a:xfrm>
          <a:prstGeom prst="bentArrow">
            <a:avLst>
              <a:gd name="adj1" fmla="val 32716"/>
              <a:gd name="adj2" fmla="val 25000"/>
              <a:gd name="adj3" fmla="val 25000"/>
              <a:gd name="adj4" fmla="val 87500"/>
            </a:avLst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9000">
                <a:schemeClr val="accent5">
                  <a:lumMod val="20000"/>
                  <a:lumOff val="80000"/>
                </a:schemeClr>
              </a:gs>
              <a:gs pos="88000">
                <a:schemeClr val="accent6">
                  <a:lumMod val="20000"/>
                  <a:lumOff val="80000"/>
                  <a:alpha val="69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AA63E0FC-A967-295D-7468-0EC318C77A9A}"/>
              </a:ext>
            </a:extLst>
          </p:cNvPr>
          <p:cNvSpPr/>
          <p:nvPr/>
        </p:nvSpPr>
        <p:spPr>
          <a:xfrm>
            <a:off x="9400220" y="2468879"/>
            <a:ext cx="405766" cy="1888238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F0A9C5D2-47F6-0F06-60C1-17811C10ABA5}"/>
              </a:ext>
            </a:extLst>
          </p:cNvPr>
          <p:cNvSpPr/>
          <p:nvPr/>
        </p:nvSpPr>
        <p:spPr>
          <a:xfrm rot="5400000">
            <a:off x="7992137" y="2657386"/>
            <a:ext cx="1445705" cy="1953761"/>
          </a:xfrm>
          <a:prstGeom prst="bentArrow">
            <a:avLst>
              <a:gd name="adj1" fmla="val 12458"/>
              <a:gd name="adj2" fmla="val 13398"/>
              <a:gd name="adj3" fmla="val 18729"/>
              <a:gd name="adj4" fmla="val 4375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 descr="logbook.png">
            <a:extLst>
              <a:ext uri="{FF2B5EF4-FFF2-40B4-BE49-F238E27FC236}">
                <a16:creationId xmlns:a16="http://schemas.microsoft.com/office/drawing/2014/main" id="{4B26313D-3417-3E13-0158-66A2CB044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67888"/>
            <a:ext cx="548640" cy="43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79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2488-BE3D-A41E-37D7-27EBDCB2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Arrow: Bent 24">
            <a:extLst>
              <a:ext uri="{FF2B5EF4-FFF2-40B4-BE49-F238E27FC236}">
                <a16:creationId xmlns:a16="http://schemas.microsoft.com/office/drawing/2014/main" id="{A883171C-3377-B890-0745-A96B305CF925}"/>
              </a:ext>
            </a:extLst>
          </p:cNvPr>
          <p:cNvSpPr/>
          <p:nvPr/>
        </p:nvSpPr>
        <p:spPr>
          <a:xfrm flipH="1" flipV="1">
            <a:off x="2057400" y="2468880"/>
            <a:ext cx="6991350" cy="1271016"/>
          </a:xfrm>
          <a:prstGeom prst="bentArrow">
            <a:avLst>
              <a:gd name="adj1" fmla="val 15258"/>
              <a:gd name="adj2" fmla="val 7764"/>
              <a:gd name="adj3" fmla="val 25000"/>
              <a:gd name="adj4" fmla="val 875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00A9DA-CBEC-5AA7-C4ED-676F044ACF07}"/>
              </a:ext>
            </a:extLst>
          </p:cNvPr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500" b="1" i="0">
                <a:solidFill>
                  <a:srgbClr val="123F69"/>
                </a:solidFill>
                <a:latin typeface="Aptos"/>
              </a:rPr>
              <a:t>Figure 1. Estimating Harvests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9CD374-C2C9-40C5-0648-60F90518BF43}"/>
              </a:ext>
            </a:extLst>
          </p:cNvPr>
          <p:cNvSpPr txBox="1"/>
          <p:nvPr/>
        </p:nvSpPr>
        <p:spPr>
          <a:xfrm>
            <a:off x="640080" y="594360"/>
            <a:ext cx="108813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50" b="0" i="1">
                <a:solidFill>
                  <a:srgbClr val="232D37"/>
                </a:solidFill>
                <a:latin typeface="Aptos"/>
              </a:rPr>
              <a:t>How guided and unguided harvest estimates are informed by complementary data sources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65B6242-31FE-AB53-1E31-0B851951B878}"/>
              </a:ext>
            </a:extLst>
          </p:cNvPr>
          <p:cNvSpPr/>
          <p:nvPr/>
        </p:nvSpPr>
        <p:spPr>
          <a:xfrm>
            <a:off x="8001000" y="960120"/>
            <a:ext cx="3840480" cy="1508760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Port sampling &amp; interviews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Species composition and biological data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species apportionment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F872711-B80F-31E4-335F-6B6433FCE133}"/>
              </a:ext>
            </a:extLst>
          </p:cNvPr>
          <p:cNvSpPr/>
          <p:nvPr/>
        </p:nvSpPr>
        <p:spPr>
          <a:xfrm>
            <a:off x="320040" y="4160520"/>
            <a:ext cx="5577840" cy="1161288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harvest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Guided logbook harvest provides the primary harvest anchor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Port sampling + logbook data apportion harvest among species / complexes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169538-D89D-AFBE-0652-D293622BA021}"/>
              </a:ext>
            </a:extLst>
          </p:cNvPr>
          <p:cNvSpPr/>
          <p:nvPr/>
        </p:nvSpPr>
        <p:spPr>
          <a:xfrm>
            <a:off x="6172200" y="4160520"/>
            <a:ext cx="5669280" cy="1166515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harvest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</a:t>
            </a:r>
            <a:r>
              <a:rPr lang="en-US" dirty="0"/>
              <a:t>Bias c</a:t>
            </a:r>
            <a:r>
              <a:rPr dirty="0"/>
              <a:t>orrected total harvest</a:t>
            </a:r>
            <a:r>
              <a:rPr lang="en-US" dirty="0"/>
              <a:t> </a:t>
            </a:r>
            <a:r>
              <a:rPr dirty="0"/>
              <a:t>informed by SWHS and logbook relationships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Guided : unguided proportions are modeled across areas / years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3. Port sampling inform</a:t>
            </a:r>
            <a:r>
              <a:rPr lang="en-US" dirty="0"/>
              <a:t>s</a:t>
            </a:r>
            <a:r>
              <a:rPr dirty="0"/>
              <a:t> species apportionment</a:t>
            </a:r>
          </a:p>
        </p:txBody>
      </p:sp>
      <p:pic>
        <p:nvPicPr>
          <p:cNvPr id="18" name="Picture 17" descr="logbook.png">
            <a:extLst>
              <a:ext uri="{FF2B5EF4-FFF2-40B4-BE49-F238E27FC236}">
                <a16:creationId xmlns:a16="http://schemas.microsoft.com/office/drawing/2014/main" id="{AA922C78-4C99-471E-E34D-5A5DD41AE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699B464-C9AF-4DD3-3CD4-B1C5E27D93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934324" y="1085953"/>
            <a:ext cx="932445" cy="487098"/>
          </a:xfrm>
          <a:prstGeom prst="rect">
            <a:avLst/>
          </a:prstGeom>
        </p:spPr>
      </p:pic>
      <p:sp>
        <p:nvSpPr>
          <p:cNvPr id="26" name="Arrow: Bent 25">
            <a:extLst>
              <a:ext uri="{FF2B5EF4-FFF2-40B4-BE49-F238E27FC236}">
                <a16:creationId xmlns:a16="http://schemas.microsoft.com/office/drawing/2014/main" id="{0C0D026C-2E69-EDF9-1FBB-78B34AE08A55}"/>
              </a:ext>
            </a:extLst>
          </p:cNvPr>
          <p:cNvSpPr/>
          <p:nvPr/>
        </p:nvSpPr>
        <p:spPr>
          <a:xfrm rot="16200000" flipH="1">
            <a:off x="2473439" y="2532877"/>
            <a:ext cx="813819" cy="2834663"/>
          </a:xfrm>
          <a:prstGeom prst="bentArrow">
            <a:avLst>
              <a:gd name="adj1" fmla="val 23991"/>
              <a:gd name="adj2" fmla="val 25000"/>
              <a:gd name="adj3" fmla="val 25000"/>
              <a:gd name="adj4" fmla="val 7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8D626D6C-2C2D-1113-9D12-2A2BC882EB31}"/>
              </a:ext>
            </a:extLst>
          </p:cNvPr>
          <p:cNvSpPr/>
          <p:nvPr/>
        </p:nvSpPr>
        <p:spPr>
          <a:xfrm>
            <a:off x="1354443" y="2468880"/>
            <a:ext cx="405766" cy="1888238"/>
          </a:xfrm>
          <a:prstGeom prst="downArrow">
            <a:avLst/>
          </a:prstGeom>
          <a:solidFill>
            <a:srgbClr val="EBF6FD"/>
          </a:solidFill>
          <a:ln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F04FC024-6503-25E6-8590-C71006B3244A}"/>
              </a:ext>
            </a:extLst>
          </p:cNvPr>
          <p:cNvSpPr/>
          <p:nvPr/>
        </p:nvSpPr>
        <p:spPr>
          <a:xfrm>
            <a:off x="9400220" y="2468879"/>
            <a:ext cx="405766" cy="1888238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EEEBCAA9-F094-7E4B-9A59-489DFB65000E}"/>
              </a:ext>
            </a:extLst>
          </p:cNvPr>
          <p:cNvSpPr/>
          <p:nvPr/>
        </p:nvSpPr>
        <p:spPr>
          <a:xfrm rot="5400000">
            <a:off x="7963562" y="2657386"/>
            <a:ext cx="1445705" cy="1953761"/>
          </a:xfrm>
          <a:prstGeom prst="bentArrow">
            <a:avLst>
              <a:gd name="adj1" fmla="val 12458"/>
              <a:gd name="adj2" fmla="val 13398"/>
              <a:gd name="adj3" fmla="val 18729"/>
              <a:gd name="adj4" fmla="val 81271"/>
            </a:avLst>
          </a:prstGeom>
          <a:solidFill>
            <a:srgbClr val="EEF8F1"/>
          </a:solidFill>
          <a:ln>
            <a:solidFill>
              <a:srgbClr val="1E6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2CDF4E4-5412-073B-8D80-4E4D860032CE}"/>
              </a:ext>
            </a:extLst>
          </p:cNvPr>
          <p:cNvSpPr/>
          <p:nvPr/>
        </p:nvSpPr>
        <p:spPr>
          <a:xfrm>
            <a:off x="4250043" y="2697480"/>
            <a:ext cx="3476612" cy="11155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650" b="1" dirty="0">
                <a:solidFill>
                  <a:srgbClr val="123F69"/>
                </a:solidFill>
                <a:latin typeface="Aptos Display"/>
              </a:rPr>
              <a:t>Estimate and correct SWHS bias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Compare </a:t>
            </a:r>
            <a:r>
              <a:rPr b="1" dirty="0"/>
              <a:t>survey estimates </a:t>
            </a:r>
            <a:r>
              <a:rPr dirty="0"/>
              <a:t>with the </a:t>
            </a:r>
            <a:r>
              <a:rPr b="1" dirty="0"/>
              <a:t>guided logbook census </a:t>
            </a:r>
            <a:r>
              <a:rPr dirty="0"/>
              <a:t>→ quantify systematic differences → estimate corrected total harvest</a:t>
            </a:r>
            <a:endParaRPr lang="en-US" dirty="0"/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lang="en-US" dirty="0"/>
              <a:t>of unguided anglers.</a:t>
            </a:r>
            <a:endParaRPr dirty="0"/>
          </a:p>
        </p:txBody>
      </p:sp>
      <p:sp>
        <p:nvSpPr>
          <p:cNvPr id="28" name="Arrow: U-Turn 27">
            <a:extLst>
              <a:ext uri="{FF2B5EF4-FFF2-40B4-BE49-F238E27FC236}">
                <a16:creationId xmlns:a16="http://schemas.microsoft.com/office/drawing/2014/main" id="{A8FFB151-2BEE-5538-402B-4385F42CDE31}"/>
              </a:ext>
            </a:extLst>
          </p:cNvPr>
          <p:cNvSpPr/>
          <p:nvPr/>
        </p:nvSpPr>
        <p:spPr>
          <a:xfrm rot="16200000" flipH="1">
            <a:off x="3484240" y="2266731"/>
            <a:ext cx="1055369" cy="810005"/>
          </a:xfrm>
          <a:prstGeom prst="uturnArrow">
            <a:avLst>
              <a:gd name="adj1" fmla="val 21472"/>
              <a:gd name="adj2" fmla="val 21472"/>
              <a:gd name="adj3" fmla="val 25000"/>
              <a:gd name="adj4" fmla="val 43750"/>
              <a:gd name="adj5" fmla="val 10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A1EA5644-C91F-8565-C2BC-135C2DD9A0E0}"/>
              </a:ext>
            </a:extLst>
          </p:cNvPr>
          <p:cNvSpPr/>
          <p:nvPr/>
        </p:nvSpPr>
        <p:spPr>
          <a:xfrm flipV="1">
            <a:off x="1904999" y="2413902"/>
            <a:ext cx="2392681" cy="813820"/>
          </a:xfrm>
          <a:prstGeom prst="bentArrow">
            <a:avLst>
              <a:gd name="adj1" fmla="val 19944"/>
              <a:gd name="adj2" fmla="val 25000"/>
              <a:gd name="adj3" fmla="val 25000"/>
              <a:gd name="adj4" fmla="val 87500"/>
            </a:avLst>
          </a:prstGeom>
          <a:solidFill>
            <a:srgbClr val="EBF6FD"/>
          </a:solidFill>
          <a:ln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BF6C2E-9158-9CBB-D9FA-13925C612C9A}"/>
              </a:ext>
            </a:extLst>
          </p:cNvPr>
          <p:cNvSpPr/>
          <p:nvPr/>
        </p:nvSpPr>
        <p:spPr>
          <a:xfrm>
            <a:off x="4160520" y="960120"/>
            <a:ext cx="3520440" cy="1508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Statewide Harvest Survey (SWHS)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Long time series of total sport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guided and unguided user groups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area / year estimates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survey estimates subject to bias</a:t>
            </a:r>
          </a:p>
        </p:txBody>
      </p:sp>
      <p:pic>
        <p:nvPicPr>
          <p:cNvPr id="9" name="Picture 8" descr="logbook.png">
            <a:extLst>
              <a:ext uri="{FF2B5EF4-FFF2-40B4-BE49-F238E27FC236}">
                <a16:creationId xmlns:a16="http://schemas.microsoft.com/office/drawing/2014/main" id="{5D06DFF2-9001-417D-1E4B-9AAA040DF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67888"/>
            <a:ext cx="548640" cy="431074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D66B61C-7A54-B731-1575-F3C3EF0DE881}"/>
              </a:ext>
            </a:extLst>
          </p:cNvPr>
          <p:cNvSpPr/>
          <p:nvPr/>
        </p:nvSpPr>
        <p:spPr>
          <a:xfrm>
            <a:off x="320040" y="960120"/>
            <a:ext cx="3520440" cy="150876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logbooks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Near-census of guided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total catch by trip / area / year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partial species/complex information</a:t>
            </a:r>
          </a:p>
        </p:txBody>
      </p:sp>
      <p:pic>
        <p:nvPicPr>
          <p:cNvPr id="17" name="Picture 16" descr="boat.png">
            <a:extLst>
              <a:ext uri="{FF2B5EF4-FFF2-40B4-BE49-F238E27FC236}">
                <a16:creationId xmlns:a16="http://schemas.microsoft.com/office/drawing/2014/main" id="{F5047777-52CA-E11F-244E-D769F70C2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1168937"/>
            <a:ext cx="640080" cy="43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5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A212F-029D-5B96-3CDC-7B16D8D55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Arrow: Down 29">
            <a:extLst>
              <a:ext uri="{FF2B5EF4-FFF2-40B4-BE49-F238E27FC236}">
                <a16:creationId xmlns:a16="http://schemas.microsoft.com/office/drawing/2014/main" id="{33B79579-6A0E-202A-A6D2-8D5EEA82F47F}"/>
              </a:ext>
            </a:extLst>
          </p:cNvPr>
          <p:cNvSpPr/>
          <p:nvPr/>
        </p:nvSpPr>
        <p:spPr>
          <a:xfrm>
            <a:off x="7721742" y="2466861"/>
            <a:ext cx="405766" cy="2019413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Bent 24">
            <a:extLst>
              <a:ext uri="{FF2B5EF4-FFF2-40B4-BE49-F238E27FC236}">
                <a16:creationId xmlns:a16="http://schemas.microsoft.com/office/drawing/2014/main" id="{B8CD0B2E-5F48-4D6C-0E64-42363CCD7022}"/>
              </a:ext>
            </a:extLst>
          </p:cNvPr>
          <p:cNvSpPr/>
          <p:nvPr/>
        </p:nvSpPr>
        <p:spPr>
          <a:xfrm flipH="1" flipV="1">
            <a:off x="3840478" y="2468880"/>
            <a:ext cx="4476389" cy="1271016"/>
          </a:xfrm>
          <a:prstGeom prst="bentArrow">
            <a:avLst>
              <a:gd name="adj1" fmla="val 15258"/>
              <a:gd name="adj2" fmla="val 7764"/>
              <a:gd name="adj3" fmla="val 25000"/>
              <a:gd name="adj4" fmla="val 875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F88DE6-21C9-D627-76EE-1D6FCB4F4F87}"/>
              </a:ext>
            </a:extLst>
          </p:cNvPr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500" b="1" i="0">
                <a:solidFill>
                  <a:srgbClr val="123F69"/>
                </a:solidFill>
                <a:latin typeface="Aptos"/>
              </a:rPr>
              <a:t>Figure 1. Estimating Harvests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DB18A-2EC5-87F9-7836-F6D4288BB92B}"/>
              </a:ext>
            </a:extLst>
          </p:cNvPr>
          <p:cNvSpPr txBox="1"/>
          <p:nvPr/>
        </p:nvSpPr>
        <p:spPr>
          <a:xfrm>
            <a:off x="640080" y="594360"/>
            <a:ext cx="108813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50" b="0" i="1">
                <a:solidFill>
                  <a:srgbClr val="232D37"/>
                </a:solidFill>
                <a:latin typeface="Aptos"/>
              </a:rPr>
              <a:t>How guided and unguided harvest estimates are informed by complementary data sources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D2D8FC-2D9B-4F2D-0C4F-90974C109B68}"/>
              </a:ext>
            </a:extLst>
          </p:cNvPr>
          <p:cNvSpPr/>
          <p:nvPr/>
        </p:nvSpPr>
        <p:spPr>
          <a:xfrm>
            <a:off x="7132319" y="960120"/>
            <a:ext cx="1804986" cy="1951294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73152" rIns="91440" bIns="54864" rtlCol="0" anchor="ctr"/>
          <a:lstStyle/>
          <a:p>
            <a:r>
              <a:rPr sz="1800" b="1" dirty="0">
                <a:solidFill>
                  <a:srgbClr val="123F69"/>
                </a:solidFill>
                <a:latin typeface="Aptos Display"/>
              </a:rPr>
              <a:t>Port </a:t>
            </a:r>
            <a:endParaRPr lang="en-US" sz="1800" b="1" dirty="0">
              <a:solidFill>
                <a:srgbClr val="123F69"/>
              </a:solidFill>
              <a:latin typeface="Aptos Display"/>
            </a:endParaRPr>
          </a:p>
          <a:p>
            <a:r>
              <a:rPr sz="1800" b="1" dirty="0">
                <a:solidFill>
                  <a:srgbClr val="123F69"/>
                </a:solidFill>
                <a:latin typeface="Aptos Display"/>
              </a:rPr>
              <a:t>sampling &amp; interviews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Species composition and biological data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species apportionment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1D7C41-5687-8290-28D6-42C6DDE9658C}"/>
              </a:ext>
            </a:extLst>
          </p:cNvPr>
          <p:cNvSpPr/>
          <p:nvPr/>
        </p:nvSpPr>
        <p:spPr>
          <a:xfrm>
            <a:off x="2358113" y="4562609"/>
            <a:ext cx="3286882" cy="159258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harvest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Guided logbook harvest provides the primary harvest anchor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Port sampling + logbook data apportion harvest among species / complexes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ADEBDCA-8EA8-2B51-5EB4-AB2D35EFAC4B}"/>
              </a:ext>
            </a:extLst>
          </p:cNvPr>
          <p:cNvSpPr/>
          <p:nvPr/>
        </p:nvSpPr>
        <p:spPr>
          <a:xfrm>
            <a:off x="5820730" y="4556732"/>
            <a:ext cx="3228020" cy="159258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harvest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</a:t>
            </a:r>
            <a:r>
              <a:rPr lang="en-US" dirty="0"/>
              <a:t>Bias c</a:t>
            </a:r>
            <a:r>
              <a:rPr dirty="0"/>
              <a:t>orrected total harvest</a:t>
            </a:r>
            <a:r>
              <a:rPr lang="en-US" dirty="0"/>
              <a:t> </a:t>
            </a:r>
            <a:r>
              <a:rPr dirty="0"/>
              <a:t>informed by SWHS and logbook relationships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Guided : unguided proportions are modeled across areas / years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3. Port sampling inform</a:t>
            </a:r>
            <a:r>
              <a:rPr lang="en-US" dirty="0"/>
              <a:t>s</a:t>
            </a:r>
            <a:r>
              <a:rPr dirty="0"/>
              <a:t> species apportionment</a:t>
            </a:r>
          </a:p>
        </p:txBody>
      </p:sp>
      <p:pic>
        <p:nvPicPr>
          <p:cNvPr id="18" name="Picture 17" descr="logbook.png">
            <a:extLst>
              <a:ext uri="{FF2B5EF4-FFF2-40B4-BE49-F238E27FC236}">
                <a16:creationId xmlns:a16="http://schemas.microsoft.com/office/drawing/2014/main" id="{471FA7BD-7AF2-8293-1A4F-4AEA4885B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FC29C1D-B8F2-DAC4-162F-F8E0F779E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145299" y="1074989"/>
            <a:ext cx="637790" cy="333174"/>
          </a:xfrm>
          <a:prstGeom prst="rect">
            <a:avLst/>
          </a:prstGeom>
        </p:spPr>
      </p:pic>
      <p:sp>
        <p:nvSpPr>
          <p:cNvPr id="26" name="Arrow: Bent 25">
            <a:extLst>
              <a:ext uri="{FF2B5EF4-FFF2-40B4-BE49-F238E27FC236}">
                <a16:creationId xmlns:a16="http://schemas.microsoft.com/office/drawing/2014/main" id="{AAEAC98E-004E-1A1E-E333-9A1BD01B1721}"/>
              </a:ext>
            </a:extLst>
          </p:cNvPr>
          <p:cNvSpPr/>
          <p:nvPr/>
        </p:nvSpPr>
        <p:spPr>
          <a:xfrm rot="16200000" flipH="1">
            <a:off x="3942138" y="2701905"/>
            <a:ext cx="1163300" cy="2834663"/>
          </a:xfrm>
          <a:prstGeom prst="bentArrow">
            <a:avLst>
              <a:gd name="adj1" fmla="val 17441"/>
              <a:gd name="adj2" fmla="val 17221"/>
              <a:gd name="adj3" fmla="val 25000"/>
              <a:gd name="adj4" fmla="val 7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32F905F2-748B-6017-A113-7A6EC8FE7ACA}"/>
              </a:ext>
            </a:extLst>
          </p:cNvPr>
          <p:cNvSpPr/>
          <p:nvPr/>
        </p:nvSpPr>
        <p:spPr>
          <a:xfrm>
            <a:off x="3071421" y="2812648"/>
            <a:ext cx="405766" cy="1888238"/>
          </a:xfrm>
          <a:prstGeom prst="downArrow">
            <a:avLst/>
          </a:prstGeom>
          <a:solidFill>
            <a:srgbClr val="EBF6FD"/>
          </a:solidFill>
          <a:ln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Bent 30">
            <a:extLst>
              <a:ext uri="{FF2B5EF4-FFF2-40B4-BE49-F238E27FC236}">
                <a16:creationId xmlns:a16="http://schemas.microsoft.com/office/drawing/2014/main" id="{FBFE6EBC-7BE9-5BED-5AC5-BDF1A652AB0A}"/>
              </a:ext>
            </a:extLst>
          </p:cNvPr>
          <p:cNvSpPr/>
          <p:nvPr/>
        </p:nvSpPr>
        <p:spPr>
          <a:xfrm rot="5400000">
            <a:off x="6468326" y="2964647"/>
            <a:ext cx="1445705" cy="1953761"/>
          </a:xfrm>
          <a:prstGeom prst="bentArrow">
            <a:avLst>
              <a:gd name="adj1" fmla="val 12458"/>
              <a:gd name="adj2" fmla="val 13398"/>
              <a:gd name="adj3" fmla="val 18729"/>
              <a:gd name="adj4" fmla="val 81271"/>
            </a:avLst>
          </a:prstGeom>
          <a:solidFill>
            <a:srgbClr val="EEF8F1"/>
          </a:solidFill>
          <a:ln>
            <a:solidFill>
              <a:srgbClr val="1E6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3372C2-439B-65A7-4585-0B507D3C4BF1}"/>
              </a:ext>
            </a:extLst>
          </p:cNvPr>
          <p:cNvSpPr/>
          <p:nvPr/>
        </p:nvSpPr>
        <p:spPr>
          <a:xfrm>
            <a:off x="4250043" y="2697480"/>
            <a:ext cx="2745116" cy="16576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650" b="1" dirty="0">
                <a:solidFill>
                  <a:srgbClr val="123F69"/>
                </a:solidFill>
                <a:latin typeface="Aptos Display"/>
              </a:rPr>
              <a:t>Estimate and correct SWHS bias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Compare </a:t>
            </a:r>
            <a:r>
              <a:rPr b="1" dirty="0"/>
              <a:t>survey estimates </a:t>
            </a:r>
            <a:r>
              <a:rPr dirty="0"/>
              <a:t>with the </a:t>
            </a:r>
            <a:r>
              <a:rPr b="1" dirty="0"/>
              <a:t>guided logbook census </a:t>
            </a:r>
            <a:r>
              <a:rPr dirty="0"/>
              <a:t>→ quantify systematic differences → estimate corrected total harvest</a:t>
            </a:r>
            <a:endParaRPr lang="en-US" dirty="0"/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lang="en-US" dirty="0"/>
              <a:t>of unguided anglers.</a:t>
            </a:r>
            <a:endParaRPr dirty="0"/>
          </a:p>
        </p:txBody>
      </p:sp>
      <p:sp>
        <p:nvSpPr>
          <p:cNvPr id="28" name="Arrow: U-Turn 27">
            <a:extLst>
              <a:ext uri="{FF2B5EF4-FFF2-40B4-BE49-F238E27FC236}">
                <a16:creationId xmlns:a16="http://schemas.microsoft.com/office/drawing/2014/main" id="{43887B1E-5F27-009C-DE49-301DFEC5DD33}"/>
              </a:ext>
            </a:extLst>
          </p:cNvPr>
          <p:cNvSpPr/>
          <p:nvPr/>
        </p:nvSpPr>
        <p:spPr>
          <a:xfrm rot="16200000" flipH="1">
            <a:off x="3622554" y="2534902"/>
            <a:ext cx="1055369" cy="810005"/>
          </a:xfrm>
          <a:prstGeom prst="uturnArrow">
            <a:avLst>
              <a:gd name="adj1" fmla="val 21472"/>
              <a:gd name="adj2" fmla="val 21472"/>
              <a:gd name="adj3" fmla="val 25000"/>
              <a:gd name="adj4" fmla="val 43750"/>
              <a:gd name="adj5" fmla="val 7648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D98231A1-FC14-37BD-E255-2C949BBB8FF6}"/>
              </a:ext>
            </a:extLst>
          </p:cNvPr>
          <p:cNvSpPr/>
          <p:nvPr/>
        </p:nvSpPr>
        <p:spPr>
          <a:xfrm flipV="1">
            <a:off x="2911012" y="2668494"/>
            <a:ext cx="1280938" cy="813819"/>
          </a:xfrm>
          <a:prstGeom prst="bentArrow">
            <a:avLst>
              <a:gd name="adj1" fmla="val 19944"/>
              <a:gd name="adj2" fmla="val 25000"/>
              <a:gd name="adj3" fmla="val 25000"/>
              <a:gd name="adj4" fmla="val 87500"/>
            </a:avLst>
          </a:prstGeom>
          <a:solidFill>
            <a:srgbClr val="EBF6FD"/>
          </a:solidFill>
          <a:ln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3FEC0EE-B1E0-0156-EC60-3F995E481927}"/>
              </a:ext>
            </a:extLst>
          </p:cNvPr>
          <p:cNvSpPr/>
          <p:nvPr/>
        </p:nvSpPr>
        <p:spPr>
          <a:xfrm>
            <a:off x="4160520" y="960120"/>
            <a:ext cx="2834639" cy="166420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73152" rIns="91440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Statewide Harvest Survey (SWHS)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Long time series of total sport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guided and unguided user groups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area / year estimates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survey estimates subject to bias</a:t>
            </a:r>
          </a:p>
        </p:txBody>
      </p:sp>
      <p:pic>
        <p:nvPicPr>
          <p:cNvPr id="9" name="Picture 8" descr="logbook.png">
            <a:extLst>
              <a:ext uri="{FF2B5EF4-FFF2-40B4-BE49-F238E27FC236}">
                <a16:creationId xmlns:a16="http://schemas.microsoft.com/office/drawing/2014/main" id="{64F7A633-B9F3-94CD-8211-B9E94E97C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67888"/>
            <a:ext cx="522247" cy="410337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7C0CCD2-5D9F-7927-DF4C-926B6290D160}"/>
              </a:ext>
            </a:extLst>
          </p:cNvPr>
          <p:cNvSpPr/>
          <p:nvPr/>
        </p:nvSpPr>
        <p:spPr>
          <a:xfrm>
            <a:off x="2313807" y="960120"/>
            <a:ext cx="1708794" cy="1951294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73152" rIns="91440" bIns="54864" rtlCol="0" anchor="ctr"/>
          <a:lstStyle/>
          <a:p>
            <a:pPr algn="r"/>
            <a:r>
              <a:rPr sz="1800" b="1" dirty="0">
                <a:solidFill>
                  <a:srgbClr val="123F69"/>
                </a:solidFill>
                <a:latin typeface="Aptos Display"/>
              </a:rPr>
              <a:t>Guided logbooks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Near-census of guided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total catch by trip / area / year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dirty="0"/>
              <a:t>• partial species/complex information</a:t>
            </a:r>
          </a:p>
        </p:txBody>
      </p:sp>
      <p:pic>
        <p:nvPicPr>
          <p:cNvPr id="17" name="Picture 16" descr="boat.png">
            <a:extLst>
              <a:ext uri="{FF2B5EF4-FFF2-40B4-BE49-F238E27FC236}">
                <a16:creationId xmlns:a16="http://schemas.microsoft.com/office/drawing/2014/main" id="{75EB99AC-EDF2-1ED7-69EB-B20C5E3B7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5419" y="1024348"/>
            <a:ext cx="505593" cy="34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59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500" b="1" i="0">
                <a:solidFill>
                  <a:srgbClr val="123F69"/>
                </a:solidFill>
                <a:latin typeface="Aptos"/>
              </a:rPr>
              <a:t>Figure 2. Estimating Releases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50" b="0" i="1">
                <a:solidFill>
                  <a:srgbClr val="232D37"/>
                </a:solidFill>
                <a:latin typeface="Aptos"/>
              </a:rPr>
              <a:t>Release estimates are derived from total catch and modeled retention / release behavior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960120"/>
            <a:ext cx="3520440" cy="150876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109728" bIns="54864" rtlCol="0" anchor="ctr"/>
          <a:lstStyle/>
          <a:p>
            <a:pPr algn="ctr"/>
            <a:r>
              <a:rPr sz="1400" b="1">
                <a:solidFill>
                  <a:srgbClr val="0D3561"/>
                </a:solidFill>
                <a:latin typeface="Aptos Display"/>
              </a:rPr>
              <a:t>Guided logbooks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Near-census of guided harvest and releases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• trip / area / year information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• release reporting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• partial species/complex information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652177"/>
            <a:ext cx="3840480" cy="1508760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bIns="54864" rtlCol="0" anchor="ctr"/>
          <a:lstStyle/>
          <a:p>
            <a:pPr algn="ctr"/>
            <a:r>
              <a:rPr sz="1400">
                <a:solidFill>
                  <a:srgbClr val="0D3561"/>
                </a:solidFill>
              </a:rPr>
              <a:t>Port sampling &amp; interviews</a:t>
            </a:r>
          </a:p>
          <a:p>
            <a:r>
              <a:rPr sz="1050">
                <a:solidFill>
                  <a:srgbClr val="0D3561"/>
                </a:solidFill>
              </a:rPr>
              <a:t>Retention and release information</a:t>
            </a:r>
          </a:p>
          <a:p>
            <a:r>
              <a:rPr sz="1050">
                <a:solidFill>
                  <a:srgbClr val="0D3561"/>
                </a:solidFill>
              </a:rPr>
              <a:t>• species composition</a:t>
            </a:r>
          </a:p>
          <a:p>
            <a:r>
              <a:rPr sz="1050">
                <a:solidFill>
                  <a:srgbClr val="0D3561"/>
                </a:solidFill>
              </a:rPr>
              <a:t>• biological data</a:t>
            </a:r>
          </a:p>
          <a:p>
            <a:r>
              <a:rPr sz="1050">
                <a:solidFill>
                  <a:srgbClr val="0D3561"/>
                </a:solidFill>
              </a:rPr>
              <a:t>• release behaviour from interview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697480"/>
            <a:ext cx="3576443" cy="1115568"/>
          </a:xfrm>
          <a:prstGeom prst="roundRect">
            <a:avLst/>
          </a:prstGeom>
          <a:solidFill>
            <a:srgbClr val="FCF6EB"/>
          </a:solidFill>
          <a:ln w="19050">
            <a:solidFill>
              <a:srgbClr val="BE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650" b="1">
                <a:solidFill>
                  <a:srgbClr val="123F69"/>
                </a:solidFill>
                <a:latin typeface="Aptos Display"/>
              </a:rPr>
              <a:t>Estimate and correct release bias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Use the guided logbook census and SWHS release estimates to quantify differences; incorporate uncertainty in the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4160520"/>
            <a:ext cx="5577840" cy="169164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>
                <a:solidFill>
                  <a:srgbClr val="123F69"/>
                </a:solidFill>
                <a:latin typeface="Aptos Display"/>
              </a:rPr>
              <a:t>Guided release estimates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1. Guided logbooks provide the primary release-count information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2. Port sampling informs species composition and retention / release behavior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3. Release estimates are modeled by area, year, and species / complex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160520"/>
            <a:ext cx="5669280" cy="169164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>
                <a:solidFill>
                  <a:srgbClr val="123F69"/>
                </a:solidFill>
                <a:latin typeface="Aptos Display"/>
              </a:rPr>
              <a:t>Private (unguided) release estimates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1. SWHS provides total catch / release information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2. Port interviews inform retention and release behavior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t>3. Guided logbooks provide relationships and information shared through the hierarchical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94760" y="5925312"/>
            <a:ext cx="4526280" cy="475488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12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150" b="1">
                <a:solidFill>
                  <a:srgbClr val="0D3561"/>
                </a:solidFill>
                <a:latin typeface="Aptos Display"/>
              </a:rPr>
              <a:t>Integrated hierarchical Bayesian model</a:t>
            </a:r>
          </a:p>
          <a:p>
            <a:pPr>
              <a:spcAft>
                <a:spcPts val="200"/>
              </a:spcAft>
              <a:defRPr sz="1050">
                <a:solidFill>
                  <a:srgbClr val="232D37"/>
                </a:solidFill>
                <a:latin typeface="Aptos"/>
              </a:defRPr>
            </a:pPr>
            <a:r>
              <a:rPr sz="850">
                <a:solidFill>
                  <a:srgbClr val="0D3561"/>
                </a:solidFill>
              </a:rPr>
              <a:t>Estimates retention / release probabilities and shares information across areas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47104"/>
            <a:ext cx="1124712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0" i="0">
                <a:solidFill>
                  <a:srgbClr val="232D37"/>
                </a:solidFill>
                <a:latin typeface="Aptos"/>
              </a:rPr>
              <a:t>Key distinction: guided releases are strongly informed by logbook reporting; unguided releases require greater integration of SWHS, port interview, and model-based information.</a:t>
            </a:r>
          </a:p>
        </p:txBody>
      </p:sp>
      <p:pic>
        <p:nvPicPr>
          <p:cNvPr id="17" name="Picture 16" descr="b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640080" cy="433832"/>
          </a:xfrm>
          <a:prstGeom prst="rect">
            <a:avLst/>
          </a:prstGeom>
        </p:spPr>
      </p:pic>
      <p:pic>
        <p:nvPicPr>
          <p:cNvPr id="18" name="Picture 17" descr="log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  <p:pic>
        <p:nvPicPr>
          <p:cNvPr id="19" name="Picture 18" descr="int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842516"/>
            <a:ext cx="640080" cy="497840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539EB389-808D-9E6A-AB7B-ACE5E2EAF082}"/>
              </a:ext>
            </a:extLst>
          </p:cNvPr>
          <p:cNvSpPr/>
          <p:nvPr/>
        </p:nvSpPr>
        <p:spPr>
          <a:xfrm>
            <a:off x="1354443" y="2468880"/>
            <a:ext cx="405766" cy="1888238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Bent 22">
            <a:extLst>
              <a:ext uri="{FF2B5EF4-FFF2-40B4-BE49-F238E27FC236}">
                <a16:creationId xmlns:a16="http://schemas.microsoft.com/office/drawing/2014/main" id="{7BA37BA6-D5DC-269D-7105-2E2D97ED71E7}"/>
              </a:ext>
            </a:extLst>
          </p:cNvPr>
          <p:cNvSpPr/>
          <p:nvPr/>
        </p:nvSpPr>
        <p:spPr>
          <a:xfrm flipV="1">
            <a:off x="1904999" y="2468879"/>
            <a:ext cx="2392681" cy="617221"/>
          </a:xfrm>
          <a:prstGeom prst="bentArrow">
            <a:avLst>
              <a:gd name="adj1" fmla="val 32716"/>
              <a:gd name="adj2" fmla="val 25000"/>
              <a:gd name="adj3" fmla="val 25000"/>
              <a:gd name="adj4" fmla="val 87500"/>
            </a:avLst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9000">
                <a:schemeClr val="accent5">
                  <a:lumMod val="20000"/>
                  <a:lumOff val="80000"/>
                </a:schemeClr>
              </a:gs>
              <a:gs pos="88000">
                <a:schemeClr val="accent6">
                  <a:lumMod val="20000"/>
                  <a:lumOff val="80000"/>
                  <a:alpha val="69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U-Turn 24">
            <a:extLst>
              <a:ext uri="{FF2B5EF4-FFF2-40B4-BE49-F238E27FC236}">
                <a16:creationId xmlns:a16="http://schemas.microsoft.com/office/drawing/2014/main" id="{7227A2A6-7B15-8125-FF11-239568495A38}"/>
              </a:ext>
            </a:extLst>
          </p:cNvPr>
          <p:cNvSpPr/>
          <p:nvPr/>
        </p:nvSpPr>
        <p:spPr>
          <a:xfrm rot="16200000" flipH="1">
            <a:off x="3484240" y="2266731"/>
            <a:ext cx="1055369" cy="810005"/>
          </a:xfrm>
          <a:prstGeom prst="uturnArrow">
            <a:avLst>
              <a:gd name="adj1" fmla="val 21472"/>
              <a:gd name="adj2" fmla="val 21472"/>
              <a:gd name="adj3" fmla="val 25000"/>
              <a:gd name="adj4" fmla="val 43750"/>
              <a:gd name="adj5" fmla="val 100000"/>
            </a:avLst>
          </a:prstGeom>
          <a:gradFill flip="none" rotWithShape="1">
            <a:gsLst>
              <a:gs pos="0">
                <a:schemeClr val="accent3">
                  <a:lumMod val="20000"/>
                  <a:lumOff val="80000"/>
                </a:schemeClr>
              </a:gs>
              <a:gs pos="59000">
                <a:schemeClr val="accent3">
                  <a:lumMod val="20000"/>
                  <a:lumOff val="80000"/>
                </a:schemeClr>
              </a:gs>
              <a:gs pos="80000">
                <a:schemeClr val="accent6">
                  <a:lumMod val="33000"/>
                  <a:lumOff val="67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5400000" scaled="1"/>
            <a:tileRect/>
          </a:gra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60520" y="960120"/>
            <a:ext cx="3520440" cy="150876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109728" bIns="54864" rtlCol="0" anchor="ctr"/>
          <a:lstStyle/>
          <a:p>
            <a:pPr algn="ctr"/>
            <a:r>
              <a:rPr sz="1400" b="1" dirty="0">
                <a:solidFill>
                  <a:srgbClr val="0D3561"/>
                </a:solidFill>
                <a:latin typeface="Aptos Display"/>
              </a:rPr>
              <a:t>Statewide Harvest Survey (SWHS)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050" dirty="0">
                <a:solidFill>
                  <a:srgbClr val="0D3561"/>
                </a:solidFill>
              </a:rPr>
              <a:t>Total release estimates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050" dirty="0">
                <a:solidFill>
                  <a:srgbClr val="0D3561"/>
                </a:solidFill>
              </a:rPr>
              <a:t>• guided and unguided user groups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050" dirty="0">
                <a:solidFill>
                  <a:srgbClr val="0D3561"/>
                </a:solidFill>
              </a:rPr>
              <a:t>• long time series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050" dirty="0">
                <a:solidFill>
                  <a:srgbClr val="0D3561"/>
                </a:solidFill>
              </a:rPr>
              <a:t>• release estimates subject to bias</a:t>
            </a:r>
          </a:p>
        </p:txBody>
      </p:sp>
      <p:pic>
        <p:nvPicPr>
          <p:cNvPr id="27" name="Picture 26" descr="logbook.png">
            <a:extLst>
              <a:ext uri="{FF2B5EF4-FFF2-40B4-BE49-F238E27FC236}">
                <a16:creationId xmlns:a16="http://schemas.microsoft.com/office/drawing/2014/main" id="{7B666C85-6B04-0D8E-811B-4494EFE3D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67888"/>
            <a:ext cx="548640" cy="431074"/>
          </a:xfrm>
          <a:prstGeom prst="rect">
            <a:avLst/>
          </a:prstGeom>
        </p:spPr>
      </p:pic>
      <p:sp>
        <p:nvSpPr>
          <p:cNvPr id="29" name="Rounded Rectangle 10">
            <a:extLst>
              <a:ext uri="{FF2B5EF4-FFF2-40B4-BE49-F238E27FC236}">
                <a16:creationId xmlns:a16="http://schemas.microsoft.com/office/drawing/2014/main" id="{F8F68DC3-CA2E-237A-33A1-1C4DDAEDE3DB}"/>
              </a:ext>
            </a:extLst>
          </p:cNvPr>
          <p:cNvSpPr/>
          <p:nvPr/>
        </p:nvSpPr>
        <p:spPr>
          <a:xfrm>
            <a:off x="8001000" y="930402"/>
            <a:ext cx="3314700" cy="537464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harvest</a:t>
            </a:r>
          </a:p>
        </p:txBody>
      </p:sp>
      <p:pic>
        <p:nvPicPr>
          <p:cNvPr id="31" name="Graphic 30" descr="Gears with solid fill">
            <a:extLst>
              <a:ext uri="{FF2B5EF4-FFF2-40B4-BE49-F238E27FC236}">
                <a16:creationId xmlns:a16="http://schemas.microsoft.com/office/drawing/2014/main" id="{7DDC5CCD-7DA7-5E53-40E1-3D87C8C77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3568" y="3339938"/>
            <a:ext cx="766479" cy="7664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F4D6-3D71-96D7-6197-B158637E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Arrow: Bent 27">
            <a:extLst>
              <a:ext uri="{FF2B5EF4-FFF2-40B4-BE49-F238E27FC236}">
                <a16:creationId xmlns:a16="http://schemas.microsoft.com/office/drawing/2014/main" id="{CC905380-65EA-074B-16C1-C75C948053E1}"/>
              </a:ext>
            </a:extLst>
          </p:cNvPr>
          <p:cNvSpPr/>
          <p:nvPr/>
        </p:nvSpPr>
        <p:spPr>
          <a:xfrm rot="5400000">
            <a:off x="7531471" y="3186049"/>
            <a:ext cx="994003" cy="808635"/>
          </a:xfrm>
          <a:prstGeom prst="bentArrow">
            <a:avLst>
              <a:gd name="adj1" fmla="val 24238"/>
              <a:gd name="adj2" fmla="val 16343"/>
              <a:gd name="adj3" fmla="val 18729"/>
              <a:gd name="adj4" fmla="val 957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1333842-7800-6A18-0B37-797512500018}"/>
              </a:ext>
            </a:extLst>
          </p:cNvPr>
          <p:cNvSpPr/>
          <p:nvPr/>
        </p:nvSpPr>
        <p:spPr>
          <a:xfrm>
            <a:off x="320040" y="4160520"/>
            <a:ext cx="5577840" cy="1428916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release estimates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Guided logbooks provide the primary release-count information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Port sampling informs species composition and retention / release behavior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B383A1C6-376F-92FB-B36A-F76F51706DFD}"/>
              </a:ext>
            </a:extLst>
          </p:cNvPr>
          <p:cNvSpPr/>
          <p:nvPr/>
        </p:nvSpPr>
        <p:spPr>
          <a:xfrm>
            <a:off x="1354443" y="2468880"/>
            <a:ext cx="405766" cy="1888238"/>
          </a:xfrm>
          <a:prstGeom prst="downArrow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F31F8D30-8EA9-DE49-59CF-A95F80AD05C0}"/>
              </a:ext>
            </a:extLst>
          </p:cNvPr>
          <p:cNvSpPr/>
          <p:nvPr/>
        </p:nvSpPr>
        <p:spPr>
          <a:xfrm rot="16200000" flipH="1">
            <a:off x="4860465" y="-495740"/>
            <a:ext cx="1612760" cy="8105581"/>
          </a:xfrm>
          <a:prstGeom prst="bentArrow">
            <a:avLst>
              <a:gd name="adj1" fmla="val 10406"/>
              <a:gd name="adj2" fmla="val 10877"/>
              <a:gd name="adj3" fmla="val 25000"/>
              <a:gd name="adj4" fmla="val 7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41DEA9FE-8E95-E27C-D88E-AA1EE3CF990B}"/>
              </a:ext>
            </a:extLst>
          </p:cNvPr>
          <p:cNvSpPr/>
          <p:nvPr/>
        </p:nvSpPr>
        <p:spPr>
          <a:xfrm rot="5400000">
            <a:off x="3804208" y="-610289"/>
            <a:ext cx="2223736" cy="6970410"/>
          </a:xfrm>
          <a:prstGeom prst="bentArrow">
            <a:avLst>
              <a:gd name="adj1" fmla="val 7870"/>
              <a:gd name="adj2" fmla="val 8562"/>
              <a:gd name="adj3" fmla="val 15331"/>
              <a:gd name="adj4" fmla="val 84669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C88480-FB07-0414-6223-0841D73F8ACC}"/>
              </a:ext>
            </a:extLst>
          </p:cNvPr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500" b="1" i="0">
                <a:solidFill>
                  <a:srgbClr val="123F69"/>
                </a:solidFill>
                <a:latin typeface="Aptos"/>
              </a:rPr>
              <a:t>Figure 2. Estimating Releases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40AC0-EE3A-2F25-E068-FECC1C360569}"/>
              </a:ext>
            </a:extLst>
          </p:cNvPr>
          <p:cNvSpPr txBox="1"/>
          <p:nvPr/>
        </p:nvSpPr>
        <p:spPr>
          <a:xfrm>
            <a:off x="640080" y="594360"/>
            <a:ext cx="108813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50" b="0" i="1">
                <a:solidFill>
                  <a:srgbClr val="232D37"/>
                </a:solidFill>
                <a:latin typeface="Aptos"/>
              </a:rPr>
              <a:t>Release estimates are derived from total catch and modeled retention / release behavior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234820-F76F-4089-4657-DA142A87B9A9}"/>
              </a:ext>
            </a:extLst>
          </p:cNvPr>
          <p:cNvSpPr/>
          <p:nvPr/>
        </p:nvSpPr>
        <p:spPr>
          <a:xfrm>
            <a:off x="4160520" y="2697480"/>
            <a:ext cx="3576443" cy="11155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650" b="1" dirty="0">
                <a:solidFill>
                  <a:srgbClr val="123F69"/>
                </a:solidFill>
                <a:latin typeface="Aptos Display"/>
              </a:rPr>
              <a:t>Estimate and correct release bias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lang="en-US" dirty="0"/>
              <a:t>Compare </a:t>
            </a:r>
            <a:r>
              <a:rPr lang="en-US" b="1" dirty="0"/>
              <a:t>survey estimates </a:t>
            </a:r>
            <a:r>
              <a:rPr lang="en-US" dirty="0"/>
              <a:t>with the </a:t>
            </a:r>
            <a:r>
              <a:rPr lang="en-US" b="1" dirty="0"/>
              <a:t>guided logbook census </a:t>
            </a:r>
            <a:r>
              <a:rPr lang="en-US" dirty="0"/>
              <a:t>→ quantify systematic differences → estimate corrected total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lang="en-US" dirty="0"/>
              <a:t>of unguided anglers.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58D4C8-15FA-998E-5953-536014305215}"/>
              </a:ext>
            </a:extLst>
          </p:cNvPr>
          <p:cNvSpPr/>
          <p:nvPr/>
        </p:nvSpPr>
        <p:spPr>
          <a:xfrm>
            <a:off x="6172200" y="4160520"/>
            <a:ext cx="5204840" cy="1428916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release estimates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SWHS provides total catch / release information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Port interviews inform retention and release behavior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3. Guided logbooks provide relationships and information shared through the hierarchical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2C8D79-D90D-409B-2A0C-41899BB15132}"/>
              </a:ext>
            </a:extLst>
          </p:cNvPr>
          <p:cNvSpPr txBox="1"/>
          <p:nvPr/>
        </p:nvSpPr>
        <p:spPr>
          <a:xfrm>
            <a:off x="457200" y="6547104"/>
            <a:ext cx="1124712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0" i="0" dirty="0">
                <a:solidFill>
                  <a:srgbClr val="232D37"/>
                </a:solidFill>
                <a:latin typeface="Aptos"/>
              </a:rPr>
              <a:t>Key distinction: guided releases are strongly informed by logbook reporting; unguided releases require greater integration of SWHS, port interview, and model-based information.</a:t>
            </a:r>
          </a:p>
        </p:txBody>
      </p:sp>
      <p:pic>
        <p:nvPicPr>
          <p:cNvPr id="18" name="Picture 17" descr="logbook.png">
            <a:extLst>
              <a:ext uri="{FF2B5EF4-FFF2-40B4-BE49-F238E27FC236}">
                <a16:creationId xmlns:a16="http://schemas.microsoft.com/office/drawing/2014/main" id="{19DD9685-4B08-2675-6364-0558D20D3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  <p:sp>
        <p:nvSpPr>
          <p:cNvPr id="23" name="Arrow: Bent 22">
            <a:extLst>
              <a:ext uri="{FF2B5EF4-FFF2-40B4-BE49-F238E27FC236}">
                <a16:creationId xmlns:a16="http://schemas.microsoft.com/office/drawing/2014/main" id="{48842623-064E-B552-B536-427503CC6DF4}"/>
              </a:ext>
            </a:extLst>
          </p:cNvPr>
          <p:cNvSpPr/>
          <p:nvPr/>
        </p:nvSpPr>
        <p:spPr>
          <a:xfrm flipV="1">
            <a:off x="1904999" y="2938270"/>
            <a:ext cx="2392681" cy="617221"/>
          </a:xfrm>
          <a:prstGeom prst="bentArrow">
            <a:avLst>
              <a:gd name="adj1" fmla="val 32716"/>
              <a:gd name="adj2" fmla="val 25000"/>
              <a:gd name="adj3" fmla="val 25000"/>
              <a:gd name="adj4" fmla="val 87500"/>
            </a:avLst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9000">
                <a:schemeClr val="accent5">
                  <a:lumMod val="20000"/>
                  <a:lumOff val="80000"/>
                </a:schemeClr>
              </a:gs>
              <a:gs pos="88000">
                <a:schemeClr val="accent6">
                  <a:lumMod val="20000"/>
                  <a:lumOff val="80000"/>
                  <a:alpha val="69000"/>
                </a:schemeClr>
              </a:gs>
              <a:gs pos="100000">
                <a:schemeClr val="accent6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D597741-FA0A-1826-F6D3-02E366A69079}"/>
              </a:ext>
            </a:extLst>
          </p:cNvPr>
          <p:cNvSpPr/>
          <p:nvPr/>
        </p:nvSpPr>
        <p:spPr>
          <a:xfrm>
            <a:off x="4160520" y="960120"/>
            <a:ext cx="3520440" cy="1508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73152" rIns="91440" bIns="54864" rtlCol="0" anchor="ctr"/>
          <a:lstStyle/>
          <a:p>
            <a:pPr algn="ctr"/>
            <a:r>
              <a:rPr sz="1600" b="1" dirty="0">
                <a:solidFill>
                  <a:srgbClr val="0D3561"/>
                </a:solidFill>
                <a:latin typeface="Aptos Display"/>
              </a:rPr>
              <a:t>Statewide Harvest Survey (SWHS)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Total</a:t>
            </a:r>
            <a:r>
              <a:rPr lang="en-US" sz="1200" dirty="0">
                <a:solidFill>
                  <a:srgbClr val="0D3561"/>
                </a:solidFill>
              </a:rPr>
              <a:t> harvest and</a:t>
            </a:r>
            <a:r>
              <a:rPr sz="1200" dirty="0">
                <a:solidFill>
                  <a:srgbClr val="0D3561"/>
                </a:solidFill>
              </a:rPr>
              <a:t> release estimates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• guided and unguided user groups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•</a:t>
            </a:r>
            <a:r>
              <a:rPr lang="en-US" sz="1200" dirty="0">
                <a:solidFill>
                  <a:srgbClr val="0D3561"/>
                </a:solidFill>
              </a:rPr>
              <a:t> </a:t>
            </a:r>
            <a:r>
              <a:rPr lang="en-US" sz="1200" b="1" dirty="0">
                <a:solidFill>
                  <a:srgbClr val="0D3561"/>
                </a:solidFill>
              </a:rPr>
              <a:t>prop. harvested </a:t>
            </a:r>
            <a:r>
              <a:rPr lang="en-US" sz="1200" b="1" dirty="0" err="1">
                <a:solidFill>
                  <a:srgbClr val="0D3561"/>
                </a:solidFill>
              </a:rPr>
              <a:t>guided:unguided</a:t>
            </a:r>
            <a:endParaRPr lang="en-US" sz="1200" b="1" dirty="0">
              <a:solidFill>
                <a:srgbClr val="0D3561"/>
              </a:solidFill>
            </a:endParaRP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lang="en-US" sz="1200" dirty="0">
                <a:solidFill>
                  <a:srgbClr val="0D3561"/>
                </a:solidFill>
              </a:rPr>
              <a:t>• release estimates subject to bias</a:t>
            </a:r>
          </a:p>
        </p:txBody>
      </p:sp>
      <p:pic>
        <p:nvPicPr>
          <p:cNvPr id="27" name="Picture 26" descr="logbook.png">
            <a:extLst>
              <a:ext uri="{FF2B5EF4-FFF2-40B4-BE49-F238E27FC236}">
                <a16:creationId xmlns:a16="http://schemas.microsoft.com/office/drawing/2014/main" id="{FE1CB43C-9960-47F7-E3DD-A3DC4A3B3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67888"/>
            <a:ext cx="548640" cy="431074"/>
          </a:xfrm>
          <a:prstGeom prst="rect">
            <a:avLst/>
          </a:prstGeom>
        </p:spPr>
      </p:pic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2E0836E0-DD81-1B7B-3525-692A47BEDE22}"/>
              </a:ext>
            </a:extLst>
          </p:cNvPr>
          <p:cNvSpPr/>
          <p:nvPr/>
        </p:nvSpPr>
        <p:spPr>
          <a:xfrm>
            <a:off x="317808" y="955648"/>
            <a:ext cx="3520440" cy="54864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harvest</a:t>
            </a:r>
          </a:p>
        </p:txBody>
      </p:sp>
      <p:sp>
        <p:nvSpPr>
          <p:cNvPr id="32" name="Arrow: Bent 31">
            <a:extLst>
              <a:ext uri="{FF2B5EF4-FFF2-40B4-BE49-F238E27FC236}">
                <a16:creationId xmlns:a16="http://schemas.microsoft.com/office/drawing/2014/main" id="{CBCB4693-8B0B-5F17-C50F-598CB6758A60}"/>
              </a:ext>
            </a:extLst>
          </p:cNvPr>
          <p:cNvSpPr/>
          <p:nvPr/>
        </p:nvSpPr>
        <p:spPr>
          <a:xfrm rot="5400000">
            <a:off x="6843421" y="2322614"/>
            <a:ext cx="2084412" cy="1364850"/>
          </a:xfrm>
          <a:prstGeom prst="bentArrow">
            <a:avLst>
              <a:gd name="adj1" fmla="val 15470"/>
              <a:gd name="adj2" fmla="val 16343"/>
              <a:gd name="adj3" fmla="val 18729"/>
              <a:gd name="adj4" fmla="val 957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U-Turn 24">
            <a:extLst>
              <a:ext uri="{FF2B5EF4-FFF2-40B4-BE49-F238E27FC236}">
                <a16:creationId xmlns:a16="http://schemas.microsoft.com/office/drawing/2014/main" id="{8F6A2214-7E05-DBA6-DC55-54D20B2BEA1E}"/>
              </a:ext>
            </a:extLst>
          </p:cNvPr>
          <p:cNvSpPr/>
          <p:nvPr/>
        </p:nvSpPr>
        <p:spPr>
          <a:xfrm rot="16200000" flipH="1">
            <a:off x="3362283" y="2211530"/>
            <a:ext cx="1416370" cy="1384069"/>
          </a:xfrm>
          <a:prstGeom prst="uturnArrow">
            <a:avLst>
              <a:gd name="adj1" fmla="val 13545"/>
              <a:gd name="adj2" fmla="val 11353"/>
              <a:gd name="adj3" fmla="val 15050"/>
              <a:gd name="adj4" fmla="val 43750"/>
              <a:gd name="adj5" fmla="val 6996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1D2EB9-BF90-6ED3-70B4-749F885F80BB}"/>
              </a:ext>
            </a:extLst>
          </p:cNvPr>
          <p:cNvSpPr/>
          <p:nvPr/>
        </p:nvSpPr>
        <p:spPr>
          <a:xfrm>
            <a:off x="4762500" y="1962833"/>
            <a:ext cx="2440702" cy="210443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E098782-3E27-AB5A-3392-0BD1D895689E}"/>
              </a:ext>
            </a:extLst>
          </p:cNvPr>
          <p:cNvSpPr/>
          <p:nvPr/>
        </p:nvSpPr>
        <p:spPr>
          <a:xfrm>
            <a:off x="4762500" y="2195379"/>
            <a:ext cx="2440702" cy="19076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B1A65923-6D39-7E54-BE40-BDE333CC8934}"/>
              </a:ext>
            </a:extLst>
          </p:cNvPr>
          <p:cNvSpPr/>
          <p:nvPr/>
        </p:nvSpPr>
        <p:spPr>
          <a:xfrm rot="16200000" flipH="1">
            <a:off x="7954005" y="2555235"/>
            <a:ext cx="1812544" cy="1251725"/>
          </a:xfrm>
          <a:prstGeom prst="bentArrow">
            <a:avLst>
              <a:gd name="adj1" fmla="val 15869"/>
              <a:gd name="adj2" fmla="val 17390"/>
              <a:gd name="adj3" fmla="val 25000"/>
              <a:gd name="adj4" fmla="val 8826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3CDBB2C-6A27-35DA-EA51-EE6FE0A82B56}"/>
              </a:ext>
            </a:extLst>
          </p:cNvPr>
          <p:cNvSpPr/>
          <p:nvPr/>
        </p:nvSpPr>
        <p:spPr>
          <a:xfrm>
            <a:off x="8841485" y="1785526"/>
            <a:ext cx="2535555" cy="1691639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Ins="0" bIns="54864" rtlCol="0" anchor="ctr"/>
          <a:lstStyle/>
          <a:p>
            <a:pPr algn="ctr"/>
            <a:r>
              <a:rPr sz="1600" b="1" dirty="0">
                <a:solidFill>
                  <a:srgbClr val="0D3561"/>
                </a:solidFill>
              </a:rPr>
              <a:t>Port sampling &amp; interviews</a:t>
            </a:r>
          </a:p>
          <a:p>
            <a:r>
              <a:rPr sz="1200" dirty="0">
                <a:solidFill>
                  <a:srgbClr val="0D3561"/>
                </a:solidFill>
              </a:rPr>
              <a:t>Retention and release information</a:t>
            </a:r>
          </a:p>
          <a:p>
            <a:r>
              <a:rPr sz="1200" dirty="0">
                <a:solidFill>
                  <a:srgbClr val="0D3561"/>
                </a:solidFill>
              </a:rPr>
              <a:t>• species composition</a:t>
            </a:r>
          </a:p>
          <a:p>
            <a:r>
              <a:rPr sz="1200" dirty="0">
                <a:solidFill>
                  <a:srgbClr val="0D3561"/>
                </a:solidFill>
              </a:rPr>
              <a:t>• </a:t>
            </a:r>
            <a:r>
              <a:rPr lang="en-US" sz="1200" b="1" dirty="0">
                <a:solidFill>
                  <a:srgbClr val="0D3561"/>
                </a:solidFill>
              </a:rPr>
              <a:t>Proportion harvested </a:t>
            </a:r>
            <a:r>
              <a:rPr lang="en-US" sz="1200" dirty="0">
                <a:solidFill>
                  <a:srgbClr val="0D3561"/>
                </a:solidFill>
              </a:rPr>
              <a:t>(</a:t>
            </a:r>
            <a:r>
              <a:rPr sz="1200" dirty="0">
                <a:solidFill>
                  <a:srgbClr val="0D3561"/>
                </a:solidFill>
              </a:rPr>
              <a:t>release behavior</a:t>
            </a:r>
            <a:r>
              <a:rPr lang="en-US" sz="1200" dirty="0">
                <a:solidFill>
                  <a:srgbClr val="0D3561"/>
                </a:solidFill>
              </a:rPr>
              <a:t>) for guided and unguided</a:t>
            </a:r>
            <a:endParaRPr sz="1200" dirty="0">
              <a:solidFill>
                <a:srgbClr val="0D356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64A9F5F-6B65-1BBD-B796-962F373F0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888092" y="1915810"/>
            <a:ext cx="640080" cy="334370"/>
          </a:xfrm>
          <a:prstGeom prst="rect">
            <a:avLst/>
          </a:prstGeom>
        </p:spPr>
      </p:pic>
      <p:sp>
        <p:nvSpPr>
          <p:cNvPr id="22" name="Arrow: Down 21">
            <a:extLst>
              <a:ext uri="{FF2B5EF4-FFF2-40B4-BE49-F238E27FC236}">
                <a16:creationId xmlns:a16="http://schemas.microsoft.com/office/drawing/2014/main" id="{41410356-93AF-6F45-AF3D-03E3A1E5B66F}"/>
              </a:ext>
            </a:extLst>
          </p:cNvPr>
          <p:cNvSpPr/>
          <p:nvPr/>
        </p:nvSpPr>
        <p:spPr>
          <a:xfrm>
            <a:off x="8235232" y="1467865"/>
            <a:ext cx="405766" cy="2770759"/>
          </a:xfrm>
          <a:prstGeom prst="downArrow">
            <a:avLst/>
          </a:prstGeom>
          <a:solidFill>
            <a:srgbClr val="EEF8F1"/>
          </a:solidFill>
          <a:ln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ounded Rectangle 10">
            <a:extLst>
              <a:ext uri="{FF2B5EF4-FFF2-40B4-BE49-F238E27FC236}">
                <a16:creationId xmlns:a16="http://schemas.microsoft.com/office/drawing/2014/main" id="{E239AD52-8E46-BCCC-E76D-DC0B9E30BCA2}"/>
              </a:ext>
            </a:extLst>
          </p:cNvPr>
          <p:cNvSpPr/>
          <p:nvPr/>
        </p:nvSpPr>
        <p:spPr>
          <a:xfrm>
            <a:off x="8062286" y="960118"/>
            <a:ext cx="3314700" cy="54864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harvest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73BB10-AF26-4A0F-B9D4-E80F543BB092}"/>
              </a:ext>
            </a:extLst>
          </p:cNvPr>
          <p:cNvSpPr/>
          <p:nvPr/>
        </p:nvSpPr>
        <p:spPr>
          <a:xfrm>
            <a:off x="320040" y="2173276"/>
            <a:ext cx="3520440" cy="886369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0" tIns="73152" rIns="91440" bIns="54864" rtlCol="0" anchor="ctr"/>
          <a:lstStyle/>
          <a:p>
            <a:pPr algn="ctr"/>
            <a:r>
              <a:rPr sz="1600" b="1" dirty="0">
                <a:solidFill>
                  <a:srgbClr val="0D3561"/>
                </a:solidFill>
                <a:latin typeface="Aptos Display"/>
              </a:rPr>
              <a:t>Guided logbooks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Near-census of guided releases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• partial species/complex information</a:t>
            </a:r>
          </a:p>
        </p:txBody>
      </p:sp>
      <p:sp>
        <p:nvSpPr>
          <p:cNvPr id="12" name="Callout: Left-Right Arrow 11">
            <a:extLst>
              <a:ext uri="{FF2B5EF4-FFF2-40B4-BE49-F238E27FC236}">
                <a16:creationId xmlns:a16="http://schemas.microsoft.com/office/drawing/2014/main" id="{80B32E41-9916-2085-6F9D-700939E97E55}"/>
              </a:ext>
            </a:extLst>
          </p:cNvPr>
          <p:cNvSpPr/>
          <p:nvPr/>
        </p:nvSpPr>
        <p:spPr>
          <a:xfrm rot="16200000">
            <a:off x="1082841" y="883788"/>
            <a:ext cx="893447" cy="1901176"/>
          </a:xfrm>
          <a:prstGeom prst="leftRightArrowCallout">
            <a:avLst>
              <a:gd name="adj1" fmla="val 25000"/>
              <a:gd name="adj2" fmla="val 25000"/>
              <a:gd name="adj3" fmla="val 17537"/>
              <a:gd name="adj4" fmla="val 44693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Aptos Display" panose="020B0004020202020204" pitchFamily="34" charset="0"/>
              </a:rPr>
              <a:t>Proportion harvested</a:t>
            </a:r>
          </a:p>
        </p:txBody>
      </p:sp>
      <p:pic>
        <p:nvPicPr>
          <p:cNvPr id="17" name="Picture 16" descr="boat.png">
            <a:extLst>
              <a:ext uri="{FF2B5EF4-FFF2-40B4-BE49-F238E27FC236}">
                <a16:creationId xmlns:a16="http://schemas.microsoft.com/office/drawing/2014/main" id="{1FED974D-0D89-C056-D755-98E183E0D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16838"/>
            <a:ext cx="640080" cy="433832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4E40132A-484B-08A2-F9E4-9D00C29004D1}"/>
              </a:ext>
            </a:extLst>
          </p:cNvPr>
          <p:cNvGrpSpPr/>
          <p:nvPr/>
        </p:nvGrpSpPr>
        <p:grpSpPr>
          <a:xfrm>
            <a:off x="1199074" y="3427081"/>
            <a:ext cx="914400" cy="914400"/>
            <a:chOff x="4389120" y="5759196"/>
            <a:chExt cx="914400" cy="914400"/>
          </a:xfrm>
        </p:grpSpPr>
        <p:pic>
          <p:nvPicPr>
            <p:cNvPr id="37" name="Graphic 36" descr="Gears with solid fill">
              <a:extLst>
                <a:ext uri="{FF2B5EF4-FFF2-40B4-BE49-F238E27FC236}">
                  <a16:creationId xmlns:a16="http://schemas.microsoft.com/office/drawing/2014/main" id="{F67EC11D-B4B6-E6D2-1C52-8B8B5AAF2A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60305" y="5996721"/>
              <a:ext cx="372030" cy="372030"/>
            </a:xfrm>
            <a:prstGeom prst="rect">
              <a:avLst/>
            </a:prstGeom>
          </p:spPr>
        </p:pic>
        <p:pic>
          <p:nvPicPr>
            <p:cNvPr id="41" name="Graphic 40" descr="Laptop outline">
              <a:extLst>
                <a:ext uri="{FF2B5EF4-FFF2-40B4-BE49-F238E27FC236}">
                  <a16:creationId xmlns:a16="http://schemas.microsoft.com/office/drawing/2014/main" id="{5D8C368E-791C-0C81-E323-F03B79525A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89120" y="5759196"/>
              <a:ext cx="914400" cy="9144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443D90B-6A6C-CA22-9CD5-E70C68B9BCA4}"/>
              </a:ext>
            </a:extLst>
          </p:cNvPr>
          <p:cNvGrpSpPr/>
          <p:nvPr/>
        </p:nvGrpSpPr>
        <p:grpSpPr>
          <a:xfrm>
            <a:off x="7952846" y="3429000"/>
            <a:ext cx="914400" cy="914400"/>
            <a:chOff x="4389120" y="5759196"/>
            <a:chExt cx="914400" cy="914400"/>
          </a:xfrm>
        </p:grpSpPr>
        <p:pic>
          <p:nvPicPr>
            <p:cNvPr id="46" name="Graphic 45" descr="Gears with solid fill">
              <a:extLst>
                <a:ext uri="{FF2B5EF4-FFF2-40B4-BE49-F238E27FC236}">
                  <a16:creationId xmlns:a16="http://schemas.microsoft.com/office/drawing/2014/main" id="{11C6267C-F73D-65A7-4C89-42BDB358A1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660305" y="5996721"/>
              <a:ext cx="372030" cy="372030"/>
            </a:xfrm>
            <a:prstGeom prst="rect">
              <a:avLst/>
            </a:prstGeom>
          </p:spPr>
        </p:pic>
        <p:pic>
          <p:nvPicPr>
            <p:cNvPr id="47" name="Graphic 46" descr="Laptop outline">
              <a:extLst>
                <a:ext uri="{FF2B5EF4-FFF2-40B4-BE49-F238E27FC236}">
                  <a16:creationId xmlns:a16="http://schemas.microsoft.com/office/drawing/2014/main" id="{D0DE0943-40DB-E179-15A7-B27BF1E170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89120" y="5759196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944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410D2-2094-92CB-9246-729B45F8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50424B-6E6A-DDF9-F21F-5F88DA6489B6}"/>
              </a:ext>
            </a:extLst>
          </p:cNvPr>
          <p:cNvSpPr/>
          <p:nvPr/>
        </p:nvSpPr>
        <p:spPr>
          <a:xfrm>
            <a:off x="6172200" y="4160520"/>
            <a:ext cx="5204840" cy="1428916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release estimates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SWHS provides total catch / release information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Port interviews inform retention and release behavior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3. Guided logbooks provide relationships and information shared through the hierarchical model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722182D-E725-599C-92DA-F8F821C90B5F}"/>
              </a:ext>
            </a:extLst>
          </p:cNvPr>
          <p:cNvSpPr/>
          <p:nvPr/>
        </p:nvSpPr>
        <p:spPr>
          <a:xfrm>
            <a:off x="8101913" y="1467865"/>
            <a:ext cx="539085" cy="2770759"/>
          </a:xfrm>
          <a:prstGeom prst="downArrow">
            <a:avLst>
              <a:gd name="adj1" fmla="val 50000"/>
              <a:gd name="adj2" fmla="val 69915"/>
            </a:avLst>
          </a:prstGeom>
          <a:solidFill>
            <a:srgbClr val="EEF8F1"/>
          </a:solidFill>
          <a:ln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78E28F-651A-980B-012B-5D12F8255340}"/>
              </a:ext>
            </a:extLst>
          </p:cNvPr>
          <p:cNvSpPr/>
          <p:nvPr/>
        </p:nvSpPr>
        <p:spPr>
          <a:xfrm>
            <a:off x="320040" y="4160520"/>
            <a:ext cx="5577840" cy="1428916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release estimates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1. Guided logbooks provide the primary release-count information</a:t>
            </a:r>
          </a:p>
          <a:p>
            <a:pPr>
              <a:spcAft>
                <a:spcPts val="200"/>
              </a:spcAft>
              <a:defRPr sz="1230">
                <a:solidFill>
                  <a:srgbClr val="232D37"/>
                </a:solidFill>
                <a:latin typeface="Aptos"/>
              </a:defRPr>
            </a:pPr>
            <a:r>
              <a:rPr dirty="0"/>
              <a:t>2. Port sampling informs species composition and retention / release behavior</a:t>
            </a:r>
          </a:p>
        </p:txBody>
      </p:sp>
      <p:sp>
        <p:nvSpPr>
          <p:cNvPr id="24" name="Arrow: Bent 23">
            <a:extLst>
              <a:ext uri="{FF2B5EF4-FFF2-40B4-BE49-F238E27FC236}">
                <a16:creationId xmlns:a16="http://schemas.microsoft.com/office/drawing/2014/main" id="{9E3F032E-335C-5374-2382-46B6CE47CCFA}"/>
              </a:ext>
            </a:extLst>
          </p:cNvPr>
          <p:cNvSpPr/>
          <p:nvPr/>
        </p:nvSpPr>
        <p:spPr>
          <a:xfrm rot="16200000" flipH="1">
            <a:off x="4705855" y="-495740"/>
            <a:ext cx="1612760" cy="8105581"/>
          </a:xfrm>
          <a:prstGeom prst="bentArrow">
            <a:avLst>
              <a:gd name="adj1" fmla="val 10406"/>
              <a:gd name="adj2" fmla="val 10877"/>
              <a:gd name="adj3" fmla="val 25000"/>
              <a:gd name="adj4" fmla="val 75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Arrow: Bent 27">
            <a:extLst>
              <a:ext uri="{FF2B5EF4-FFF2-40B4-BE49-F238E27FC236}">
                <a16:creationId xmlns:a16="http://schemas.microsoft.com/office/drawing/2014/main" id="{D97D9FB4-7FA5-7334-B8CE-F511CDB114A4}"/>
              </a:ext>
            </a:extLst>
          </p:cNvPr>
          <p:cNvSpPr/>
          <p:nvPr/>
        </p:nvSpPr>
        <p:spPr>
          <a:xfrm rot="5400000">
            <a:off x="7683711" y="3317990"/>
            <a:ext cx="771132" cy="874009"/>
          </a:xfrm>
          <a:prstGeom prst="bentArrow">
            <a:avLst>
              <a:gd name="adj1" fmla="val 24238"/>
              <a:gd name="adj2" fmla="val 16343"/>
              <a:gd name="adj3" fmla="val 18729"/>
              <a:gd name="adj4" fmla="val 95776"/>
            </a:avLst>
          </a:prstGeom>
          <a:solidFill>
            <a:srgbClr val="EEF8F1"/>
          </a:solidFill>
          <a:ln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61BC43F6-2A4C-FD78-911A-591D214C77C7}"/>
              </a:ext>
            </a:extLst>
          </p:cNvPr>
          <p:cNvSpPr/>
          <p:nvPr/>
        </p:nvSpPr>
        <p:spPr>
          <a:xfrm>
            <a:off x="1354443" y="2468880"/>
            <a:ext cx="405766" cy="1888238"/>
          </a:xfrm>
          <a:prstGeom prst="downArrow">
            <a:avLst/>
          </a:prstGeom>
          <a:solidFill>
            <a:srgbClr val="EBF6FD"/>
          </a:solidFill>
          <a:ln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Bent 12">
            <a:extLst>
              <a:ext uri="{FF2B5EF4-FFF2-40B4-BE49-F238E27FC236}">
                <a16:creationId xmlns:a16="http://schemas.microsoft.com/office/drawing/2014/main" id="{24A7AC39-8CEE-161A-9F72-9835DA1ED113}"/>
              </a:ext>
            </a:extLst>
          </p:cNvPr>
          <p:cNvSpPr/>
          <p:nvPr/>
        </p:nvSpPr>
        <p:spPr>
          <a:xfrm rot="5400000">
            <a:off x="3804208" y="-610289"/>
            <a:ext cx="2223736" cy="6970410"/>
          </a:xfrm>
          <a:prstGeom prst="bentArrow">
            <a:avLst>
              <a:gd name="adj1" fmla="val 7870"/>
              <a:gd name="adj2" fmla="val 8562"/>
              <a:gd name="adj3" fmla="val 15331"/>
              <a:gd name="adj4" fmla="val 84669"/>
            </a:avLst>
          </a:prstGeom>
          <a:solidFill>
            <a:srgbClr val="EBF6FD"/>
          </a:solidFill>
          <a:ln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60B44D-CF93-057A-C935-DB7375339BC5}"/>
              </a:ext>
            </a:extLst>
          </p:cNvPr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500" b="1" i="0">
                <a:solidFill>
                  <a:srgbClr val="123F69"/>
                </a:solidFill>
                <a:latin typeface="Aptos"/>
              </a:rPr>
              <a:t>Figure 2. Estimating Releases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47D10-D1F9-D5F4-3972-C5FF7692281D}"/>
              </a:ext>
            </a:extLst>
          </p:cNvPr>
          <p:cNvSpPr txBox="1"/>
          <p:nvPr/>
        </p:nvSpPr>
        <p:spPr>
          <a:xfrm>
            <a:off x="640080" y="594360"/>
            <a:ext cx="108813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50" b="0" i="1">
                <a:solidFill>
                  <a:srgbClr val="232D37"/>
                </a:solidFill>
                <a:latin typeface="Aptos"/>
              </a:rPr>
              <a:t>Release estimates are derived from total catch and modeled retention / release behavior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73642C-F4B2-1079-F4F6-0D989A666BE3}"/>
              </a:ext>
            </a:extLst>
          </p:cNvPr>
          <p:cNvSpPr/>
          <p:nvPr/>
        </p:nvSpPr>
        <p:spPr>
          <a:xfrm>
            <a:off x="4160520" y="2697480"/>
            <a:ext cx="3576443" cy="11155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650" b="1" dirty="0">
                <a:solidFill>
                  <a:srgbClr val="123F69"/>
                </a:solidFill>
                <a:latin typeface="Aptos Display"/>
              </a:rPr>
              <a:t>Estimate and correct release bias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lang="en-US" dirty="0"/>
              <a:t>Compare </a:t>
            </a:r>
            <a:r>
              <a:rPr lang="en-US" b="1" dirty="0"/>
              <a:t>survey estimates </a:t>
            </a:r>
            <a:r>
              <a:rPr lang="en-US" dirty="0"/>
              <a:t>with the </a:t>
            </a:r>
            <a:r>
              <a:rPr lang="en-US" b="1" dirty="0"/>
              <a:t>guided logbook census </a:t>
            </a:r>
            <a:r>
              <a:rPr lang="en-US" dirty="0"/>
              <a:t>→ quantify systematic differences → estimate corrected total harvest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lang="en-US" dirty="0"/>
              <a:t>of unguided anglers.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931E1D-3CE4-84C7-FA31-23CFC5A136DC}"/>
              </a:ext>
            </a:extLst>
          </p:cNvPr>
          <p:cNvSpPr txBox="1"/>
          <p:nvPr/>
        </p:nvSpPr>
        <p:spPr>
          <a:xfrm>
            <a:off x="457200" y="6547104"/>
            <a:ext cx="1124712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0" i="0" dirty="0">
                <a:solidFill>
                  <a:srgbClr val="232D37"/>
                </a:solidFill>
                <a:latin typeface="Aptos"/>
              </a:rPr>
              <a:t>Key distinction: guided releases are strongly informed by logbook reporting; unguided releases require greater integration of SWHS, port interview, and model-based information.</a:t>
            </a:r>
          </a:p>
        </p:txBody>
      </p:sp>
      <p:pic>
        <p:nvPicPr>
          <p:cNvPr id="18" name="Picture 17" descr="logbook.png">
            <a:extLst>
              <a:ext uri="{FF2B5EF4-FFF2-40B4-BE49-F238E27FC236}">
                <a16:creationId xmlns:a16="http://schemas.microsoft.com/office/drawing/2014/main" id="{74617E26-1C75-FEF3-6DEC-76A559A7B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  <p:sp>
        <p:nvSpPr>
          <p:cNvPr id="23" name="Arrow: Bent 22">
            <a:extLst>
              <a:ext uri="{FF2B5EF4-FFF2-40B4-BE49-F238E27FC236}">
                <a16:creationId xmlns:a16="http://schemas.microsoft.com/office/drawing/2014/main" id="{D485A429-CC4C-14D2-CD28-29E647AFDFBA}"/>
              </a:ext>
            </a:extLst>
          </p:cNvPr>
          <p:cNvSpPr/>
          <p:nvPr/>
        </p:nvSpPr>
        <p:spPr>
          <a:xfrm flipV="1">
            <a:off x="1836637" y="2983769"/>
            <a:ext cx="2392681" cy="617221"/>
          </a:xfrm>
          <a:prstGeom prst="bentArrow">
            <a:avLst>
              <a:gd name="adj1" fmla="val 32716"/>
              <a:gd name="adj2" fmla="val 25000"/>
              <a:gd name="adj3" fmla="val 25000"/>
              <a:gd name="adj4" fmla="val 87500"/>
            </a:avLst>
          </a:prstGeom>
          <a:solidFill>
            <a:srgbClr val="EBF6FD"/>
          </a:solidFill>
          <a:ln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7638DE1-1CAC-CE3C-644C-0E197717F761}"/>
              </a:ext>
            </a:extLst>
          </p:cNvPr>
          <p:cNvSpPr/>
          <p:nvPr/>
        </p:nvSpPr>
        <p:spPr>
          <a:xfrm>
            <a:off x="4160520" y="960120"/>
            <a:ext cx="3520440" cy="1508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tIns="73152" rIns="91440" bIns="54864" rtlCol="0" anchor="ctr"/>
          <a:lstStyle/>
          <a:p>
            <a:pPr algn="ctr"/>
            <a:r>
              <a:rPr sz="1600" b="1" dirty="0">
                <a:solidFill>
                  <a:srgbClr val="0D3561"/>
                </a:solidFill>
                <a:latin typeface="Aptos Display"/>
              </a:rPr>
              <a:t>Statewide Harvest Survey (SWHS)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Total</a:t>
            </a:r>
            <a:r>
              <a:rPr lang="en-US" sz="1200" dirty="0">
                <a:solidFill>
                  <a:srgbClr val="0D3561"/>
                </a:solidFill>
              </a:rPr>
              <a:t> harvest and</a:t>
            </a:r>
            <a:r>
              <a:rPr sz="1200" dirty="0">
                <a:solidFill>
                  <a:srgbClr val="0D3561"/>
                </a:solidFill>
              </a:rPr>
              <a:t> release estimates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• guided and unguided user groups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•</a:t>
            </a:r>
            <a:r>
              <a:rPr lang="en-US" sz="1200" dirty="0">
                <a:solidFill>
                  <a:srgbClr val="0D3561"/>
                </a:solidFill>
              </a:rPr>
              <a:t> </a:t>
            </a:r>
            <a:r>
              <a:rPr lang="en-US" sz="1200" b="1" dirty="0">
                <a:solidFill>
                  <a:srgbClr val="0D3561"/>
                </a:solidFill>
              </a:rPr>
              <a:t>prop. harvested </a:t>
            </a:r>
            <a:r>
              <a:rPr lang="en-US" sz="1200" b="1" dirty="0" err="1">
                <a:solidFill>
                  <a:srgbClr val="0D3561"/>
                </a:solidFill>
              </a:rPr>
              <a:t>guided:unguided</a:t>
            </a:r>
            <a:endParaRPr lang="en-US" sz="1200" b="1" dirty="0">
              <a:solidFill>
                <a:srgbClr val="0D3561"/>
              </a:solidFill>
            </a:endParaRP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lang="en-US" sz="1200" dirty="0">
                <a:solidFill>
                  <a:srgbClr val="0D3561"/>
                </a:solidFill>
              </a:rPr>
              <a:t>• release estimates subject to bias</a:t>
            </a:r>
          </a:p>
        </p:txBody>
      </p:sp>
      <p:pic>
        <p:nvPicPr>
          <p:cNvPr id="27" name="Picture 26" descr="logbook.png">
            <a:extLst>
              <a:ext uri="{FF2B5EF4-FFF2-40B4-BE49-F238E27FC236}">
                <a16:creationId xmlns:a16="http://schemas.microsoft.com/office/drawing/2014/main" id="{C37B3B40-6A45-25CB-B4D2-39BB7E8E0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67888"/>
            <a:ext cx="548640" cy="431074"/>
          </a:xfrm>
          <a:prstGeom prst="rect">
            <a:avLst/>
          </a:prstGeom>
        </p:spPr>
      </p:pic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44B39617-6BFF-5694-2AEE-3808BC8101DC}"/>
              </a:ext>
            </a:extLst>
          </p:cNvPr>
          <p:cNvSpPr/>
          <p:nvPr/>
        </p:nvSpPr>
        <p:spPr>
          <a:xfrm>
            <a:off x="317808" y="955648"/>
            <a:ext cx="3520440" cy="54864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Guided harvest</a:t>
            </a:r>
          </a:p>
        </p:txBody>
      </p:sp>
      <p:sp>
        <p:nvSpPr>
          <p:cNvPr id="32" name="Arrow: Bent 31">
            <a:extLst>
              <a:ext uri="{FF2B5EF4-FFF2-40B4-BE49-F238E27FC236}">
                <a16:creationId xmlns:a16="http://schemas.microsoft.com/office/drawing/2014/main" id="{A875A238-7E4C-8F17-563A-8101B72A578E}"/>
              </a:ext>
            </a:extLst>
          </p:cNvPr>
          <p:cNvSpPr/>
          <p:nvPr/>
        </p:nvSpPr>
        <p:spPr>
          <a:xfrm rot="5400000">
            <a:off x="6843421" y="2322614"/>
            <a:ext cx="2084412" cy="1364850"/>
          </a:xfrm>
          <a:prstGeom prst="bentArrow">
            <a:avLst>
              <a:gd name="adj1" fmla="val 15470"/>
              <a:gd name="adj2" fmla="val 16343"/>
              <a:gd name="adj3" fmla="val 18729"/>
              <a:gd name="adj4" fmla="val 957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Arrow: U-Turn 24">
            <a:extLst>
              <a:ext uri="{FF2B5EF4-FFF2-40B4-BE49-F238E27FC236}">
                <a16:creationId xmlns:a16="http://schemas.microsoft.com/office/drawing/2014/main" id="{EEC8547A-5A2E-BAF9-2B0F-1AB5308354AF}"/>
              </a:ext>
            </a:extLst>
          </p:cNvPr>
          <p:cNvSpPr/>
          <p:nvPr/>
        </p:nvSpPr>
        <p:spPr>
          <a:xfrm rot="16200000" flipH="1">
            <a:off x="3362283" y="2211530"/>
            <a:ext cx="1416370" cy="1384069"/>
          </a:xfrm>
          <a:prstGeom prst="uturnArrow">
            <a:avLst>
              <a:gd name="adj1" fmla="val 13545"/>
              <a:gd name="adj2" fmla="val 11353"/>
              <a:gd name="adj3" fmla="val 15050"/>
              <a:gd name="adj4" fmla="val 43750"/>
              <a:gd name="adj5" fmla="val 6996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93BED4-0305-1ED8-D0E2-1F4F070CE58A}"/>
              </a:ext>
            </a:extLst>
          </p:cNvPr>
          <p:cNvSpPr/>
          <p:nvPr/>
        </p:nvSpPr>
        <p:spPr>
          <a:xfrm>
            <a:off x="4762500" y="1962833"/>
            <a:ext cx="2440702" cy="210443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107DCC4-1DB6-A16C-C372-CA6E35B82DBD}"/>
              </a:ext>
            </a:extLst>
          </p:cNvPr>
          <p:cNvSpPr/>
          <p:nvPr/>
        </p:nvSpPr>
        <p:spPr>
          <a:xfrm>
            <a:off x="4762500" y="2195379"/>
            <a:ext cx="2440702" cy="19076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5A1DB9C5-273E-6FFC-20EC-3231124CF993}"/>
              </a:ext>
            </a:extLst>
          </p:cNvPr>
          <p:cNvSpPr/>
          <p:nvPr/>
        </p:nvSpPr>
        <p:spPr>
          <a:xfrm rot="16200000" flipH="1">
            <a:off x="7954005" y="2555235"/>
            <a:ext cx="1812544" cy="1251725"/>
          </a:xfrm>
          <a:prstGeom prst="bentArrow">
            <a:avLst>
              <a:gd name="adj1" fmla="val 15869"/>
              <a:gd name="adj2" fmla="val 17390"/>
              <a:gd name="adj3" fmla="val 25000"/>
              <a:gd name="adj4" fmla="val 8826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F137A57-164E-3E3A-FA84-F9ED85C9FD79}"/>
              </a:ext>
            </a:extLst>
          </p:cNvPr>
          <p:cNvSpPr/>
          <p:nvPr/>
        </p:nvSpPr>
        <p:spPr>
          <a:xfrm>
            <a:off x="8841485" y="1909351"/>
            <a:ext cx="2535555" cy="1691639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73152" rIns="0" bIns="54864" rtlCol="0" anchor="ctr"/>
          <a:lstStyle/>
          <a:p>
            <a:pPr algn="ctr"/>
            <a:r>
              <a:rPr sz="1600" b="1" dirty="0">
                <a:solidFill>
                  <a:srgbClr val="0D3561"/>
                </a:solidFill>
              </a:rPr>
              <a:t>Port sampling &amp; interviews</a:t>
            </a:r>
          </a:p>
          <a:p>
            <a:r>
              <a:rPr sz="1200" dirty="0">
                <a:solidFill>
                  <a:srgbClr val="0D3561"/>
                </a:solidFill>
              </a:rPr>
              <a:t>Retention and release information</a:t>
            </a:r>
          </a:p>
          <a:p>
            <a:r>
              <a:rPr sz="1200" dirty="0">
                <a:solidFill>
                  <a:srgbClr val="0D3561"/>
                </a:solidFill>
              </a:rPr>
              <a:t>• species composition</a:t>
            </a:r>
          </a:p>
          <a:p>
            <a:r>
              <a:rPr sz="1200" dirty="0">
                <a:solidFill>
                  <a:srgbClr val="0D3561"/>
                </a:solidFill>
              </a:rPr>
              <a:t>• </a:t>
            </a:r>
            <a:r>
              <a:rPr lang="en-US" sz="1200" b="1" dirty="0">
                <a:solidFill>
                  <a:srgbClr val="0D3561"/>
                </a:solidFill>
              </a:rPr>
              <a:t>Proportion harvested </a:t>
            </a:r>
            <a:r>
              <a:rPr lang="en-US" sz="1200" dirty="0">
                <a:solidFill>
                  <a:srgbClr val="0D3561"/>
                </a:solidFill>
              </a:rPr>
              <a:t>(</a:t>
            </a:r>
            <a:r>
              <a:rPr sz="1200" dirty="0">
                <a:solidFill>
                  <a:srgbClr val="0D3561"/>
                </a:solidFill>
              </a:rPr>
              <a:t>release behavior</a:t>
            </a:r>
            <a:r>
              <a:rPr lang="en-US" sz="1200" dirty="0">
                <a:solidFill>
                  <a:srgbClr val="0D3561"/>
                </a:solidFill>
              </a:rPr>
              <a:t>) for guided and unguided</a:t>
            </a:r>
            <a:endParaRPr sz="1200" dirty="0">
              <a:solidFill>
                <a:srgbClr val="0D356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6A67C5E-3AE5-5E7B-236E-D7092D4665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888092" y="2039635"/>
            <a:ext cx="640080" cy="334370"/>
          </a:xfrm>
          <a:prstGeom prst="rect">
            <a:avLst/>
          </a:prstGeom>
        </p:spPr>
      </p:pic>
      <p:sp>
        <p:nvSpPr>
          <p:cNvPr id="29" name="Rounded Rectangle 10">
            <a:extLst>
              <a:ext uri="{FF2B5EF4-FFF2-40B4-BE49-F238E27FC236}">
                <a16:creationId xmlns:a16="http://schemas.microsoft.com/office/drawing/2014/main" id="{2E992148-E120-7212-C7EF-00FB898FE0DF}"/>
              </a:ext>
            </a:extLst>
          </p:cNvPr>
          <p:cNvSpPr/>
          <p:nvPr/>
        </p:nvSpPr>
        <p:spPr>
          <a:xfrm>
            <a:off x="8062286" y="960118"/>
            <a:ext cx="3314700" cy="54864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800" b="1" dirty="0">
                <a:solidFill>
                  <a:srgbClr val="123F69"/>
                </a:solidFill>
                <a:latin typeface="Aptos Display"/>
              </a:rPr>
              <a:t>Private (unguided) harvest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6C9AEE-BA6C-3FA9-4736-3C48CA422E2C}"/>
              </a:ext>
            </a:extLst>
          </p:cNvPr>
          <p:cNvSpPr/>
          <p:nvPr/>
        </p:nvSpPr>
        <p:spPr>
          <a:xfrm>
            <a:off x="320040" y="2173276"/>
            <a:ext cx="3520440" cy="886369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0" tIns="73152" rIns="91440" bIns="54864" rtlCol="0" anchor="ctr"/>
          <a:lstStyle/>
          <a:p>
            <a:pPr algn="ctr"/>
            <a:r>
              <a:rPr sz="1600" b="1" dirty="0">
                <a:solidFill>
                  <a:srgbClr val="0D3561"/>
                </a:solidFill>
                <a:latin typeface="Aptos Display"/>
              </a:rPr>
              <a:t>Guided logbooks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Near-census of guided releases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 sz="1200" dirty="0">
                <a:solidFill>
                  <a:srgbClr val="0D3561"/>
                </a:solidFill>
              </a:rPr>
              <a:t>• partial species/complex information</a:t>
            </a:r>
          </a:p>
        </p:txBody>
      </p:sp>
      <p:sp>
        <p:nvSpPr>
          <p:cNvPr id="12" name="Callout: Left-Right Arrow 11">
            <a:extLst>
              <a:ext uri="{FF2B5EF4-FFF2-40B4-BE49-F238E27FC236}">
                <a16:creationId xmlns:a16="http://schemas.microsoft.com/office/drawing/2014/main" id="{94181F79-3654-7794-FF28-2D5B43920989}"/>
              </a:ext>
            </a:extLst>
          </p:cNvPr>
          <p:cNvSpPr/>
          <p:nvPr/>
        </p:nvSpPr>
        <p:spPr>
          <a:xfrm rot="16200000">
            <a:off x="1082841" y="883788"/>
            <a:ext cx="893447" cy="1901176"/>
          </a:xfrm>
          <a:prstGeom prst="leftRightArrowCallout">
            <a:avLst>
              <a:gd name="adj1" fmla="val 25000"/>
              <a:gd name="adj2" fmla="val 25000"/>
              <a:gd name="adj3" fmla="val 17537"/>
              <a:gd name="adj4" fmla="val 44693"/>
            </a:avLst>
          </a:prstGeom>
          <a:solidFill>
            <a:srgbClr val="EBF6FD"/>
          </a:solidFill>
          <a:ln>
            <a:solidFill>
              <a:srgbClr val="2279B1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Aptos Display" panose="020B0004020202020204" pitchFamily="34" charset="0"/>
              </a:rPr>
              <a:t>Proportion harvested</a:t>
            </a:r>
          </a:p>
        </p:txBody>
      </p:sp>
      <p:pic>
        <p:nvPicPr>
          <p:cNvPr id="17" name="Picture 16" descr="boat.png">
            <a:extLst>
              <a:ext uri="{FF2B5EF4-FFF2-40B4-BE49-F238E27FC236}">
                <a16:creationId xmlns:a16="http://schemas.microsoft.com/office/drawing/2014/main" id="{19C46912-B84E-F750-4DDE-14F7594F7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316838"/>
            <a:ext cx="640080" cy="43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88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2500" b="1" i="0">
                <a:solidFill>
                  <a:srgbClr val="123F69"/>
                </a:solidFill>
                <a:latin typeface="Aptos"/>
              </a:rPr>
              <a:t>Figure 3. From Fish Numbers to Final Removal 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881360" cy="292608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1350" b="0" i="1">
                <a:solidFill>
                  <a:srgbClr val="232D37"/>
                </a:solidFill>
                <a:latin typeface="Aptos"/>
              </a:rPr>
              <a:t>Combining harvest, releases, biological information, and release mortality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2743200" cy="123444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109728" bIns="54864" rtlCol="0" anchor="ctr"/>
          <a:lstStyle/>
          <a:p>
            <a:pPr algn="ctr"/>
            <a:r>
              <a:rPr sz="1400" b="1">
                <a:solidFill>
                  <a:srgbClr val="0D3561"/>
                </a:solidFill>
                <a:latin typeface="Aptos Display"/>
              </a:rPr>
              <a:t>Harvest estimates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Guided + private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By area, year, species / complex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(number of fish)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960120"/>
            <a:ext cx="2743200" cy="1234440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109728" bIns="54864" rtlCol="0" anchor="ctr"/>
          <a:lstStyle/>
          <a:p>
            <a:pPr algn="ctr"/>
            <a:r>
              <a:rPr sz="1400" b="1">
                <a:solidFill>
                  <a:srgbClr val="0D3561"/>
                </a:solidFill>
                <a:latin typeface="Aptos Display"/>
              </a:rPr>
              <a:t>Release estimates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Guided + private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By area, year, species / complex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(number of fish)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960120"/>
            <a:ext cx="2514600" cy="1234440"/>
          </a:xfrm>
          <a:prstGeom prst="roundRect">
            <a:avLst/>
          </a:prstGeom>
          <a:solidFill>
            <a:srgbClr val="EEF8F1"/>
          </a:solidFill>
          <a:ln w="19050">
            <a:solidFill>
              <a:srgbClr val="277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109728" bIns="54864" rtlCol="0" anchor="ctr"/>
          <a:lstStyle/>
          <a:p>
            <a:pPr algn="ctr"/>
            <a:r>
              <a:rPr sz="1400" b="1">
                <a:solidFill>
                  <a:srgbClr val="0D3561"/>
                </a:solidFill>
                <a:latin typeface="Aptos Display"/>
              </a:rPr>
              <a:t>Fish weights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Species- / complex-specific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rPr sz="1050">
                <a:solidFill>
                  <a:srgbClr val="0D3561"/>
                </a:solidFill>
              </a:rPr>
              <a:t>Mean annual weights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960120"/>
            <a:ext cx="2331720" cy="1234440"/>
          </a:xfrm>
          <a:prstGeom prst="roundRect">
            <a:avLst/>
          </a:prstGeom>
          <a:solidFill>
            <a:srgbClr val="FCF6EB"/>
          </a:solidFill>
          <a:ln w="19050">
            <a:solidFill>
              <a:srgbClr val="BE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68680" tIns="73152" rIns="73152" bIns="54864" rtlCol="0" anchor="ctr"/>
          <a:lstStyle/>
          <a:p>
            <a:r>
              <a:rPr sz="1400">
                <a:solidFill>
                  <a:srgbClr val="0D3561"/>
                </a:solidFill>
              </a:rPr>
              <a:t>Release mortality</a:t>
            </a:r>
          </a:p>
          <a:p>
            <a:r>
              <a:rPr sz="1050">
                <a:solidFill>
                  <a:srgbClr val="0D3561"/>
                </a:solidFill>
              </a:rPr>
              <a:t>Species-specific mortality rates</a:t>
            </a:r>
          </a:p>
          <a:p>
            <a:r>
              <a:rPr sz="1050">
                <a:solidFill>
                  <a:srgbClr val="0D3561"/>
                </a:solidFill>
              </a:rPr>
              <a:t>estimated outside the model</a:t>
            </a:r>
          </a:p>
          <a:p>
            <a:r>
              <a:rPr sz="1050">
                <a:solidFill>
                  <a:srgbClr val="0D3561"/>
                </a:solidFill>
              </a:rPr>
              <a:t>(see manuscript)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697480"/>
            <a:ext cx="8503920" cy="1051560"/>
          </a:xfrm>
          <a:prstGeom prst="roundRect">
            <a:avLst/>
          </a:prstGeom>
          <a:solidFill>
            <a:srgbClr val="EBEEF2"/>
          </a:solidFill>
          <a:ln w="19050">
            <a:solidFill>
              <a:srgbClr val="12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700" b="1">
                <a:solidFill>
                  <a:srgbClr val="0D3561"/>
                </a:solidFill>
                <a:latin typeface="Aptos Display"/>
              </a:rPr>
              <a:t>Convert fish numbers to biomass and mortality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Harvest numbers × mean weight → harvest biomass</a:t>
            </a:r>
          </a:p>
          <a:p>
            <a:pPr>
              <a:spcAft>
                <a:spcPts val="200"/>
              </a:spcAft>
              <a:defRPr sz="1300">
                <a:solidFill>
                  <a:srgbClr val="232D37"/>
                </a:solidFill>
                <a:latin typeface="Aptos"/>
              </a:defRPr>
            </a:pPr>
            <a:r>
              <a:t>Release numbers × mean weight × release-mortality rate → release mortality biomass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74519" y="2194560"/>
            <a:ext cx="1874520" cy="502920"/>
          </a:xfrm>
          <a:prstGeom prst="line">
            <a:avLst/>
          </a:prstGeom>
          <a:ln w="27940">
            <a:solidFill>
              <a:srgbClr val="227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92040" y="2194560"/>
            <a:ext cx="365760" cy="502920"/>
          </a:xfrm>
          <a:prstGeom prst="line">
            <a:avLst/>
          </a:prstGeom>
          <a:ln w="27940">
            <a:solidFill>
              <a:srgbClr val="694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309360" y="2194560"/>
            <a:ext cx="1481328" cy="502920"/>
          </a:xfrm>
          <a:prstGeom prst="line">
            <a:avLst/>
          </a:prstGeom>
          <a:ln w="27940">
            <a:solidFill>
              <a:srgbClr val="277D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955279" y="2194560"/>
            <a:ext cx="2514601" cy="502920"/>
          </a:xfrm>
          <a:prstGeom prst="line">
            <a:avLst/>
          </a:prstGeom>
          <a:ln w="27940">
            <a:solidFill>
              <a:srgbClr val="BE70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02920" y="4251960"/>
            <a:ext cx="2560320" cy="1143000"/>
          </a:xfrm>
          <a:prstGeom prst="roundRect">
            <a:avLst/>
          </a:prstGeom>
          <a:solidFill>
            <a:srgbClr val="EBF6FD"/>
          </a:solidFill>
          <a:ln w="19050">
            <a:solidFill>
              <a:srgbClr val="2279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700" b="1">
                <a:solidFill>
                  <a:srgbClr val="123F69"/>
                </a:solidFill>
                <a:latin typeface="Aptos Display"/>
              </a:rPr>
              <a:t>Harvest biomass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Guided + private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pounds of fish harvested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251960"/>
            <a:ext cx="2560320" cy="1143000"/>
          </a:xfrm>
          <a:prstGeom prst="roundRect">
            <a:avLst/>
          </a:prstGeom>
          <a:solidFill>
            <a:srgbClr val="FCF6EB"/>
          </a:solidFill>
          <a:ln w="19050">
            <a:solidFill>
              <a:srgbClr val="BE70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700" b="1">
                <a:solidFill>
                  <a:srgbClr val="123F69"/>
                </a:solidFill>
                <a:latin typeface="Aptos Display"/>
              </a:rPr>
              <a:t>Release mortality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Guided + private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pounds expected to die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251960"/>
            <a:ext cx="2560320" cy="1143000"/>
          </a:xfrm>
          <a:prstGeom prst="roundRect">
            <a:avLst/>
          </a:prstGeom>
          <a:solidFill>
            <a:srgbClr val="F5F1FA"/>
          </a:solidFill>
          <a:ln w="19050">
            <a:solidFill>
              <a:srgbClr val="694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700" b="1">
                <a:solidFill>
                  <a:srgbClr val="123F69"/>
                </a:solidFill>
                <a:latin typeface="Aptos Display"/>
              </a:rPr>
              <a:t>Total removals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Harvest + release mortality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t>pounds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4251960"/>
            <a:ext cx="2926080" cy="1143000"/>
          </a:xfrm>
          <a:prstGeom prst="roundRect">
            <a:avLst/>
          </a:prstGeom>
          <a:solidFill>
            <a:srgbClr val="123F69"/>
          </a:solidFill>
          <a:ln w="19050">
            <a:solidFill>
              <a:srgbClr val="123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54864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 Display"/>
              </a:rPr>
              <a:t>Final reporting units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By area • year • species / complex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Guided • private</a:t>
            </a:r>
          </a:p>
          <a:p>
            <a:pPr>
              <a:spcAft>
                <a:spcPts val="200"/>
              </a:spcAft>
              <a:defRPr sz="1250">
                <a:solidFill>
                  <a:srgbClr val="232D37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with associated uncertainty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783080" y="3749039"/>
            <a:ext cx="3703320" cy="502921"/>
          </a:xfrm>
          <a:prstGeom prst="line">
            <a:avLst/>
          </a:prstGeom>
          <a:ln w="27940">
            <a:solidFill>
              <a:srgbClr val="123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4526280" y="3749039"/>
            <a:ext cx="960120" cy="502921"/>
          </a:xfrm>
          <a:prstGeom prst="line">
            <a:avLst/>
          </a:prstGeom>
          <a:ln w="27940">
            <a:solidFill>
              <a:srgbClr val="123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3749039"/>
            <a:ext cx="1783080" cy="502921"/>
          </a:xfrm>
          <a:prstGeom prst="line">
            <a:avLst/>
          </a:prstGeom>
          <a:ln w="27940">
            <a:solidFill>
              <a:srgbClr val="123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5715000"/>
            <a:ext cx="10972800" cy="4114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>
              <a:defRPr b="1"/>
            </a:pPr>
            <a:r>
              <a:rPr sz="1800" b="1" i="0">
                <a:solidFill>
                  <a:srgbClr val="123F69"/>
                </a:solidFill>
                <a:latin typeface="Aptos"/>
              </a:rPr>
              <a:t>TOTAL SPORT-FISHERY MORTALITY  =  HARVEST  +  EXPECTED RELEASE MORTALITY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547104"/>
            <a:ext cx="11247120" cy="164592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 algn="ctr"/>
            <a:r>
              <a:rPr sz="850" b="0" i="0">
                <a:solidFill>
                  <a:srgbClr val="232D37"/>
                </a:solidFill>
                <a:latin typeface="Aptos"/>
              </a:rPr>
              <a:t>Final estimates retain the guided / private distinction and are reported by area, year, and species or species complex.</a:t>
            </a:r>
          </a:p>
        </p:txBody>
      </p:sp>
      <p:pic>
        <p:nvPicPr>
          <p:cNvPr id="22" name="Picture 21" descr="f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078992"/>
            <a:ext cx="685800" cy="360947"/>
          </a:xfrm>
          <a:prstGeom prst="rect">
            <a:avLst/>
          </a:prstGeom>
        </p:spPr>
      </p:pic>
      <p:pic>
        <p:nvPicPr>
          <p:cNvPr id="23" name="Picture 22" descr="f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078992"/>
            <a:ext cx="685800" cy="360947"/>
          </a:xfrm>
          <a:prstGeom prst="rect">
            <a:avLst/>
          </a:prstGeom>
        </p:spPr>
      </p:pic>
      <p:pic>
        <p:nvPicPr>
          <p:cNvPr id="24" name="Picture 23" descr="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078992"/>
            <a:ext cx="502920" cy="623621"/>
          </a:xfrm>
          <a:prstGeom prst="rect">
            <a:avLst/>
          </a:prstGeom>
        </p:spPr>
      </p:pic>
      <p:pic>
        <p:nvPicPr>
          <p:cNvPr id="25" name="Picture 24" descr="fish_morta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1078992"/>
            <a:ext cx="685800" cy="360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at.png">
            <a:extLst>
              <a:ext uri="{FF2B5EF4-FFF2-40B4-BE49-F238E27FC236}">
                <a16:creationId xmlns:a16="http://schemas.microsoft.com/office/drawing/2014/main" id="{FDD31A9D-0D7A-A4E7-0ECD-2C43290D0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078992"/>
            <a:ext cx="640080" cy="433832"/>
          </a:xfrm>
          <a:prstGeom prst="rect">
            <a:avLst/>
          </a:prstGeom>
        </p:spPr>
      </p:pic>
      <p:pic>
        <p:nvPicPr>
          <p:cNvPr id="3" name="Picture 2" descr="logbook.png">
            <a:extLst>
              <a:ext uri="{FF2B5EF4-FFF2-40B4-BE49-F238E27FC236}">
                <a16:creationId xmlns:a16="http://schemas.microsoft.com/office/drawing/2014/main" id="{BD0004B9-2D4A-8A92-6C17-C8A9D26C0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78992"/>
            <a:ext cx="548640" cy="431074"/>
          </a:xfrm>
          <a:prstGeom prst="rect">
            <a:avLst/>
          </a:prstGeom>
        </p:spPr>
      </p:pic>
      <p:pic>
        <p:nvPicPr>
          <p:cNvPr id="4" name="Picture 3" descr="interview.png">
            <a:extLst>
              <a:ext uri="{FF2B5EF4-FFF2-40B4-BE49-F238E27FC236}">
                <a16:creationId xmlns:a16="http://schemas.microsoft.com/office/drawing/2014/main" id="{815476FD-74BC-F58D-2C59-343BB80B8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85688" y="3292354"/>
            <a:ext cx="640080" cy="497840"/>
          </a:xfrm>
          <a:prstGeom prst="rect">
            <a:avLst/>
          </a:prstGeom>
        </p:spPr>
      </p:pic>
      <p:pic>
        <p:nvPicPr>
          <p:cNvPr id="5" name="Picture 4" descr="A black and white image of a person in a boat with a fishing rod&#10;&#10;AI-generated content may be incorrect.">
            <a:extLst>
              <a:ext uri="{FF2B5EF4-FFF2-40B4-BE49-F238E27FC236}">
                <a16:creationId xmlns:a16="http://schemas.microsoft.com/office/drawing/2014/main" id="{99089627-1BC9-E590-146D-1A35EAD0E5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314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0119" y="2975247"/>
            <a:ext cx="940980" cy="9409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6ED9FF-A4D4-A2CE-4249-347094975F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159703" y="3594808"/>
            <a:ext cx="940980" cy="543282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3195DD-C2EB-79E1-EF4E-DE48C3B9BD8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/>
          <a:stretch/>
        </p:blipFill>
        <p:spPr>
          <a:xfrm flipH="1">
            <a:off x="105888" y="2270310"/>
            <a:ext cx="1048610" cy="597770"/>
          </a:xfrm>
          <a:prstGeom prst="rect">
            <a:avLst/>
          </a:prstGeom>
          <a:ln>
            <a:noFill/>
          </a:ln>
        </p:spPr>
      </p:pic>
      <p:pic>
        <p:nvPicPr>
          <p:cNvPr id="8" name="Graphic 7" descr="Dead Fish Skeleton with solid fill">
            <a:extLst>
              <a:ext uri="{FF2B5EF4-FFF2-40B4-BE49-F238E27FC236}">
                <a16:creationId xmlns:a16="http://schemas.microsoft.com/office/drawing/2014/main" id="{EB0409B8-9D88-15BD-F43D-5C2305FE0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48840" y="2894425"/>
            <a:ext cx="389505" cy="39792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4920030-E249-B738-0F29-C411E182A73E}"/>
              </a:ext>
            </a:extLst>
          </p:cNvPr>
          <p:cNvGrpSpPr/>
          <p:nvPr/>
        </p:nvGrpSpPr>
        <p:grpSpPr>
          <a:xfrm>
            <a:off x="3874969" y="4751704"/>
            <a:ext cx="639881" cy="333890"/>
            <a:chOff x="3874969" y="4578743"/>
            <a:chExt cx="971351" cy="506851"/>
          </a:xfrm>
        </p:grpSpPr>
        <p:pic>
          <p:nvPicPr>
            <p:cNvPr id="9" name="Picture 8" descr="A black and white image of a person in a boat with a fishing rod&#10;&#10;AI-generated content may be incorrect.">
              <a:extLst>
                <a:ext uri="{FF2B5EF4-FFF2-40B4-BE49-F238E27FC236}">
                  <a16:creationId xmlns:a16="http://schemas.microsoft.com/office/drawing/2014/main" id="{E017CCF7-6BA1-AA8D-104D-94BF8D2B5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314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1" t="4696" r="38072" b="41655"/>
            <a:stretch>
              <a:fillRect/>
            </a:stretch>
          </p:blipFill>
          <p:spPr>
            <a:xfrm>
              <a:off x="3874969" y="4578743"/>
              <a:ext cx="555150" cy="504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Picture 10" descr="interview.png">
              <a:extLst>
                <a:ext uri="{FF2B5EF4-FFF2-40B4-BE49-F238E27FC236}">
                  <a16:creationId xmlns:a16="http://schemas.microsoft.com/office/drawing/2014/main" id="{89B82F59-6629-AE45-264E-15C661360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47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206240" y="4587754"/>
              <a:ext cx="640080" cy="497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7551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1619</Words>
  <Application>Microsoft Office PowerPoint</Application>
  <PresentationFormat>Widescreen</PresentationFormat>
  <Paragraphs>232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Joy, Philip J (DFG)</dc:creator>
  <cp:keywords/>
  <dc:description>generated using python-pptx</dc:description>
  <cp:lastModifiedBy>Joy, Philip J (DFG)</cp:lastModifiedBy>
  <cp:revision>10</cp:revision>
  <dcterms:created xsi:type="dcterms:W3CDTF">2013-01-27T09:14:16Z</dcterms:created>
  <dcterms:modified xsi:type="dcterms:W3CDTF">2026-10-28T23:58:16Z</dcterms:modified>
  <cp:category/>
</cp:coreProperties>
</file>